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2" r:id="rId15"/>
    <p:sldId id="271" r:id="rId16"/>
    <p:sldId id="270" r:id="rId17"/>
    <p:sldId id="265" r:id="rId18"/>
  </p:sldIdLst>
  <p:sldSz cx="18288000" cy="10287000"/>
  <p:notesSz cx="6858000" cy="9144000"/>
  <p:embeddedFontLst>
    <p:embeddedFont>
      <p:font typeface="Bookman Old Style" panose="02050604050505020204" pitchFamily="18"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Gotham" panose="020B0604020202020204" charset="0"/>
      <p:regular r:id="rId27"/>
    </p:embeddedFont>
    <p:embeddedFont>
      <p:font typeface="Gotham Bold Italics"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29" y="3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799772" y="16492"/>
            <a:ext cx="4131816" cy="1784622"/>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SEAMLESS DEPARTMENT EVENT BOOKING APP</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K.Bunny</a:t>
            </a:r>
            <a:r>
              <a:rPr lang="en-US" sz="3000" dirty="0">
                <a:latin typeface="Cambria" panose="02040503050406030204" pitchFamily="18" charset="0"/>
                <a:ea typeface="Cambria" panose="02040503050406030204" pitchFamily="18" charset="0"/>
              </a:rPr>
              <a:t> Preetham chary – VTU26337 – 23UECS1273</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77665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Hemamailini</a:t>
            </a:r>
          </a:p>
          <a:p>
            <a:pPr>
              <a:lnSpc>
                <a:spcPct val="150000"/>
              </a:lnSpc>
            </a:pPr>
            <a:r>
              <a:rPr lang="en-US" sz="3000" dirty="0">
                <a:latin typeface="Cambria" panose="02040503050406030204" pitchFamily="18" charset="0"/>
                <a:ea typeface="Cambria" panose="02040503050406030204" pitchFamily="18" charset="0"/>
              </a:rPr>
              <a:t>Assistant Professor(Senior Grade)</a:t>
            </a: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707886"/>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 SDG: SDG 9 – Industry, Innovation and Infrastructure</a:t>
            </a:r>
            <a:endParaRPr lang="en-IN" sz="2000" b="1" dirty="0">
              <a:latin typeface="Cambria" panose="02040503050406030204" pitchFamily="18" charset="0"/>
              <a:ea typeface="Cambria" panose="02040503050406030204" pitchFamily="18" charset="0"/>
            </a:endParaRPr>
          </a:p>
          <a:p>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0002738"/>
          </a:xfrm>
          <a:prstGeom prst="rect">
            <a:avLst/>
          </a:prstGeom>
          <a:noFill/>
        </p:spPr>
        <p:txBody>
          <a:bodyPr wrap="square" rtlCol="0">
            <a:spAutoFit/>
          </a:bodyPr>
          <a:lstStyle/>
          <a:p>
            <a:pPr marL="457200" indent="-457200">
              <a:buFontTx/>
              <a:buChar char="-"/>
            </a:pPr>
            <a:endParaRPr lang="en-US" sz="2800" dirty="0"/>
          </a:p>
          <a:p>
            <a:r>
              <a:rPr lang="en-US" sz="2800" dirty="0">
                <a:latin typeface="Times New Roman" panose="02020603050405020304" pitchFamily="18" charset="0"/>
                <a:cs typeface="Times New Roman" panose="02020603050405020304" pitchFamily="18" charset="0"/>
              </a:rPr>
              <a:t>                          </a:t>
            </a:r>
            <a:r>
              <a:rPr lang="en-US" sz="2800" dirty="0"/>
              <a:t>In today’s fast-paced academic environment, organizing and managing department events such as seminars, workshops, and technical fests requires efficiency, accuracy, and easy access. Traditional methods of event registration, including manual forms and physical tickets, often lead to errors, delays, and increased administrative workload.</a:t>
            </a:r>
          </a:p>
          <a:p>
            <a:r>
              <a:rPr lang="en-US" sz="2800" dirty="0"/>
              <a:t>The Seamless Department Event Booking App is developed to overcome these challenges by providing a centralized digital platform for event management. This application allows students and staff to view event details, register online, and receive instant confirmation, making the entire process simple and convenient. At the same time, event organizers can efficiently manage bookings, monitor participation, and generate reports.</a:t>
            </a:r>
          </a:p>
          <a:p>
            <a:r>
              <a:rPr lang="en-US" sz="2800" dirty="0"/>
              <a:t>By using modern web technologies, the system improves user experience and reduces dependency on paper-based processes. This not only saves time but also supports environmentally friendly practices.</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6" name="Group 37">
            <a:extLst>
              <a:ext uri="{FF2B5EF4-FFF2-40B4-BE49-F238E27FC236}">
                <a16:creationId xmlns:a16="http://schemas.microsoft.com/office/drawing/2014/main" id="{E5F04D9D-308A-3183-6836-B0EC5388A6D1}"/>
              </a:ext>
            </a:extLst>
          </p:cNvPr>
          <p:cNvGrpSpPr/>
          <p:nvPr/>
        </p:nvGrpSpPr>
        <p:grpSpPr>
          <a:xfrm>
            <a:off x="14020800" y="-8142801"/>
            <a:ext cx="10994424" cy="10994424"/>
            <a:chOff x="0" y="0"/>
            <a:chExt cx="812800" cy="812800"/>
          </a:xfrm>
        </p:grpSpPr>
        <p:sp>
          <p:nvSpPr>
            <p:cNvPr id="7" name="Freeform 38">
              <a:extLst>
                <a:ext uri="{FF2B5EF4-FFF2-40B4-BE49-F238E27FC236}">
                  <a16:creationId xmlns:a16="http://schemas.microsoft.com/office/drawing/2014/main" id="{DD6C4498-CEE7-2D27-F0C3-97EBEC11E8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0" name="TextBox 39">
              <a:extLst>
                <a:ext uri="{FF2B5EF4-FFF2-40B4-BE49-F238E27FC236}">
                  <a16:creationId xmlns:a16="http://schemas.microsoft.com/office/drawing/2014/main" id="{2238B763-36E8-D0F8-087D-09B56E0E974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a:extLst>
              <a:ext uri="{FF2B5EF4-FFF2-40B4-BE49-F238E27FC236}">
                <a16:creationId xmlns:a16="http://schemas.microsoft.com/office/drawing/2014/main" id="{A8A7B8E9-D90B-1CF8-14D3-8D2483CAFC58}"/>
              </a:ext>
            </a:extLst>
          </p:cNvPr>
          <p:cNvSpPr txBox="1"/>
          <p:nvPr/>
        </p:nvSpPr>
        <p:spPr>
          <a:xfrm>
            <a:off x="0" y="12164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978729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algn="just">
              <a:lnSpc>
                <a:spcPct val="150000"/>
              </a:lnSpc>
            </a:pPr>
            <a:r>
              <a:rPr lang="en-US" sz="2800" dirty="0">
                <a:latin typeface="Times New Roman" panose="02020603050405020304" pitchFamily="18" charset="0"/>
                <a:cs typeface="Times New Roman" panose="02020603050405020304" pitchFamily="18" charset="0"/>
              </a:rPr>
              <a:t>In many educational institutions, the management of department events such as seminars, workshops, and technical fests is still handled through manual or partially digital methods, which often leads to inefficiencies, errors, and lack of proper coordination. Students may face difficulties in accessing event information, completing registrations, and receiving timely confirmations, while organizers struggle with handling large volumes of data, tracking participants, and managing event logistics effectively. These traditional approaches increase administrative workload, consume more time, and often result in miscommunication and data inconsistencies. Additionally, the use of paper-based processes contributes to unnecessary resource consumption and environmental impact. Therefore, there is a need for a centralized and automated system that simplifies event booking and management.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3" name="Group 37">
            <a:extLst>
              <a:ext uri="{FF2B5EF4-FFF2-40B4-BE49-F238E27FC236}">
                <a16:creationId xmlns:a16="http://schemas.microsoft.com/office/drawing/2014/main" id="{2FF1B020-E599-4243-0745-94658C4B75D2}"/>
              </a:ext>
            </a:extLst>
          </p:cNvPr>
          <p:cNvGrpSpPr/>
          <p:nvPr/>
        </p:nvGrpSpPr>
        <p:grpSpPr>
          <a:xfrm>
            <a:off x="14020800" y="-8142801"/>
            <a:ext cx="10994424" cy="10994424"/>
            <a:chOff x="0" y="0"/>
            <a:chExt cx="812800" cy="812800"/>
          </a:xfrm>
        </p:grpSpPr>
        <p:sp>
          <p:nvSpPr>
            <p:cNvPr id="4" name="Freeform 38">
              <a:extLst>
                <a:ext uri="{FF2B5EF4-FFF2-40B4-BE49-F238E27FC236}">
                  <a16:creationId xmlns:a16="http://schemas.microsoft.com/office/drawing/2014/main" id="{8D5722D6-1AB3-AFC3-50FD-97E032A64A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5" name="TextBox 39">
              <a:extLst>
                <a:ext uri="{FF2B5EF4-FFF2-40B4-BE49-F238E27FC236}">
                  <a16:creationId xmlns:a16="http://schemas.microsoft.com/office/drawing/2014/main" id="{8C494B58-803A-A1A0-E7D1-2C6625F9E9E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a:extLst>
              <a:ext uri="{FF2B5EF4-FFF2-40B4-BE49-F238E27FC236}">
                <a16:creationId xmlns:a16="http://schemas.microsoft.com/office/drawing/2014/main" id="{CF58B49F-CF64-89F9-D6CB-EEBCFCA5C762}"/>
              </a:ext>
            </a:extLst>
          </p:cNvPr>
          <p:cNvGrpSpPr/>
          <p:nvPr/>
        </p:nvGrpSpPr>
        <p:grpSpPr>
          <a:xfrm>
            <a:off x="14020800" y="-8142801"/>
            <a:ext cx="10994424" cy="10994424"/>
            <a:chOff x="0" y="0"/>
            <a:chExt cx="812800" cy="812800"/>
          </a:xfrm>
        </p:grpSpPr>
        <p:sp>
          <p:nvSpPr>
            <p:cNvPr id="4" name="Freeform 38">
              <a:extLst>
                <a:ext uri="{FF2B5EF4-FFF2-40B4-BE49-F238E27FC236}">
                  <a16:creationId xmlns:a16="http://schemas.microsoft.com/office/drawing/2014/main" id="{BFE0BB44-45F2-A4A6-9B89-0E8576D618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5" name="TextBox 39">
              <a:extLst>
                <a:ext uri="{FF2B5EF4-FFF2-40B4-BE49-F238E27FC236}">
                  <a16:creationId xmlns:a16="http://schemas.microsoft.com/office/drawing/2014/main" id="{B7E50780-1EA1-5613-9DE5-1713C4D8E91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6" name="TextBox 5">
            <a:extLst>
              <a:ext uri="{FF2B5EF4-FFF2-40B4-BE49-F238E27FC236}">
                <a16:creationId xmlns:a16="http://schemas.microsoft.com/office/drawing/2014/main" id="{9C6502AF-CCC8-31E6-FA60-391BF4CC2DF4}"/>
              </a:ext>
            </a:extLst>
          </p:cNvPr>
          <p:cNvSpPr txBox="1"/>
          <p:nvPr/>
        </p:nvSpPr>
        <p:spPr>
          <a:xfrm>
            <a:off x="2209800" y="1638300"/>
            <a:ext cx="15082325" cy="13665279"/>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develop a centralized platform for managing department events efficiently.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provide an easy and user-friendly interface for event registration.</a:t>
            </a:r>
          </a:p>
          <a:p>
            <a:r>
              <a:rPr lang="en-US" sz="2800" dirty="0">
                <a:latin typeface="Times New Roman" panose="02020603050405020304" pitchFamily="18" charset="0"/>
                <a:cs typeface="Times New Roman" panose="02020603050405020304" pitchFamily="18" charset="0"/>
              </a:rPr>
              <a:t>To enable students and staff to view event details and book tickets online. </a:t>
            </a:r>
          </a:p>
          <a:p>
            <a:r>
              <a:rPr lang="en-US" sz="2800" dirty="0">
                <a:latin typeface="Times New Roman" panose="02020603050405020304" pitchFamily="18" charset="0"/>
                <a:cs typeface="Times New Roman" panose="02020603050405020304" pitchFamily="18" charset="0"/>
              </a:rPr>
              <a:t>• To design and develop an automated Event Ticket Booking System for managing event listings, bookings, and user data.</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To improve booking accuracy and track participant registrations through real-time updates and reports.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To implement the system for efficient ticket booking, user management, and event handling.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To evaluate the performance of the system by monitoring booking accuracy, system reliability, and processing speed.</a:t>
            </a:r>
          </a:p>
          <a:p>
            <a:endParaRPr lang="en-US" sz="2800" dirty="0">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10864513"/>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 proposed system is a web-based Seamless Department Event Booking App designed to automate and simplify the process of managing departmental events. The system provides a centralized platform where users can easily access event information, register for events, and receive instant confirmation. It eliminates the need for manual registration methods and reduces the chances of errors and data mismanagement.</a:t>
            </a:r>
          </a:p>
          <a:p>
            <a:r>
              <a:rPr lang="en-US" sz="2800" dirty="0">
                <a:latin typeface="Times New Roman" panose="02020603050405020304" pitchFamily="18" charset="0"/>
                <a:cs typeface="Times New Roman" panose="02020603050405020304" pitchFamily="18" charset="0"/>
              </a:rPr>
              <a:t>The application allows event organizers to create, update, and manage event details such as date, time, venue, and participant limits. It also enables real-time tracking of registrations, helping organizers monitor event capacity and participation effectively. Users can log in securely, browse available events, and book their slots with ease through a user-friendly interface.</a:t>
            </a:r>
          </a:p>
          <a:p>
            <a:r>
              <a:rPr lang="en-US" sz="2800" dirty="0">
                <a:latin typeface="Times New Roman" panose="02020603050405020304" pitchFamily="18" charset="0"/>
                <a:cs typeface="Times New Roman" panose="02020603050405020304" pitchFamily="18" charset="0"/>
              </a:rPr>
              <a:t>The system includes database management to store user and event data securely, ensuring data integrity and easy retrieval. Additionally, it provides reporting features that help organizers analyze participation and generate useful insights.</a:t>
            </a:r>
          </a:p>
          <a:p>
            <a:r>
              <a:rPr lang="en-US" sz="2800" dirty="0">
                <a:latin typeface="Times New Roman" panose="02020603050405020304" pitchFamily="18" charset="0"/>
                <a:cs typeface="Times New Roman" panose="02020603050405020304" pitchFamily="18" charset="0"/>
              </a:rPr>
              <a:t>Overall, the proposed system improves efficiency, reduces administrative workload, enhances user experience, and ensures a smooth and organized event management process.</a:t>
            </a:r>
          </a:p>
          <a:p>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TextBox 45">
            <a:extLst>
              <a:ext uri="{FF2B5EF4-FFF2-40B4-BE49-F238E27FC236}">
                <a16:creationId xmlns:a16="http://schemas.microsoft.com/office/drawing/2014/main" id="{E7218D14-8F44-8040-8BFD-49A59591F527}"/>
              </a:ext>
            </a:extLst>
          </p:cNvPr>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a:extLst>
              <a:ext uri="{FF2B5EF4-FFF2-40B4-BE49-F238E27FC236}">
                <a16:creationId xmlns:a16="http://schemas.microsoft.com/office/drawing/2014/main" id="{4F283DDE-1616-62AE-4C34-D40B631B4EC7}"/>
              </a:ext>
            </a:extLst>
          </p:cNvPr>
          <p:cNvGrpSpPr/>
          <p:nvPr/>
        </p:nvGrpSpPr>
        <p:grpSpPr>
          <a:xfrm>
            <a:off x="14020800" y="-8142801"/>
            <a:ext cx="10994424" cy="10994424"/>
            <a:chOff x="0" y="0"/>
            <a:chExt cx="812800" cy="812800"/>
          </a:xfrm>
        </p:grpSpPr>
        <p:sp>
          <p:nvSpPr>
            <p:cNvPr id="3" name="Freeform 38">
              <a:extLst>
                <a:ext uri="{FF2B5EF4-FFF2-40B4-BE49-F238E27FC236}">
                  <a16:creationId xmlns:a16="http://schemas.microsoft.com/office/drawing/2014/main" id="{1277AC33-DE92-DEAD-3684-F9E584FE7C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4" name="TextBox 39">
              <a:extLst>
                <a:ext uri="{FF2B5EF4-FFF2-40B4-BE49-F238E27FC236}">
                  <a16:creationId xmlns:a16="http://schemas.microsoft.com/office/drawing/2014/main" id="{56B25065-0B92-DE42-94C2-2ECB8CBB349C}"/>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2" name="TextBox 41">
            <a:extLst>
              <a:ext uri="{FF2B5EF4-FFF2-40B4-BE49-F238E27FC236}">
                <a16:creationId xmlns:a16="http://schemas.microsoft.com/office/drawing/2014/main" id="{A4B3B85F-0C7B-16B9-6D50-94A4DFD2D192}"/>
              </a:ext>
            </a:extLst>
          </p:cNvPr>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1" y="1638300"/>
            <a:ext cx="6553200" cy="13880723"/>
          </a:xfrm>
          <a:prstGeom prst="rect">
            <a:avLst/>
          </a:prstGeom>
          <a:noFill/>
        </p:spPr>
        <p:txBody>
          <a:bodyPr wrap="square" rtlCol="0">
            <a:spAutoFit/>
          </a:bodyPr>
          <a:lstStyle/>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Input:</a:t>
            </a:r>
            <a:br>
              <a:rPr lang="en-US" sz="2800" dirty="0">
                <a:latin typeface="Times New Roman" panose="02020603050405020304" pitchFamily="18" charset="0"/>
                <a:cs typeface="Times New Roman" panose="02020603050405020304" pitchFamily="18" charset="0"/>
              </a:rPr>
            </a:br>
            <a:r>
              <a:rPr lang="en-US" sz="2800" dirty="0"/>
              <a:t>Users  access the application through a web interface to enter login details, browse, and submit registration information events.</a:t>
            </a: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Processing:</a:t>
            </a:r>
            <a:br>
              <a:rPr lang="en-US" sz="2800" dirty="0">
                <a:latin typeface="Times New Roman" panose="02020603050405020304" pitchFamily="18" charset="0"/>
                <a:cs typeface="Times New Roman" panose="02020603050405020304" pitchFamily="18" charset="0"/>
              </a:rPr>
            </a:br>
            <a:r>
              <a:rPr lang="en-US" sz="2800" dirty="0"/>
              <a:t>The system processes user requests through controllers and applies business logic such as user authentication, event creation, seat availability checking.</a:t>
            </a: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Database: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All data is securely stored in a MySQL database, including user details, event information, and registration records, ensuring efficient data storage </a:t>
            </a:r>
            <a:r>
              <a:rPr lang="en-US" sz="2800" dirty="0"/>
              <a:t>.</a:t>
            </a: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Output: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The system displays results through web pages, including available event lists, successful booking confirmations.</a:t>
            </a:r>
          </a:p>
          <a:p>
            <a:pPr marL="457200" indent="-4572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descr="The image depicts a high-level diagram of the architecture for a Ticket Booking Web Application, illustrating the flow from user interaction to backend processing, payment gateway integration, and final confirmation of booking.&#10;&#10;AI-generated content may be incorrect.">
            <a:extLst>
              <a:ext uri="{FF2B5EF4-FFF2-40B4-BE49-F238E27FC236}">
                <a16:creationId xmlns:a16="http://schemas.microsoft.com/office/drawing/2014/main" id="{17615626-255C-84DC-929A-7A98CD3574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2209" y="1851026"/>
            <a:ext cx="8932970" cy="61669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a:extLst>
              <a:ext uri="{FF2B5EF4-FFF2-40B4-BE49-F238E27FC236}">
                <a16:creationId xmlns:a16="http://schemas.microsoft.com/office/drawing/2014/main" id="{5FF0B2D0-7843-1835-7081-F69B51BDD5B8}"/>
              </a:ext>
            </a:extLst>
          </p:cNvPr>
          <p:cNvGrpSpPr/>
          <p:nvPr/>
        </p:nvGrpSpPr>
        <p:grpSpPr>
          <a:xfrm>
            <a:off x="14020800" y="-8142801"/>
            <a:ext cx="10994424" cy="10994424"/>
            <a:chOff x="0" y="0"/>
            <a:chExt cx="812800" cy="812800"/>
          </a:xfrm>
        </p:grpSpPr>
        <p:sp>
          <p:nvSpPr>
            <p:cNvPr id="3" name="Freeform 38">
              <a:extLst>
                <a:ext uri="{FF2B5EF4-FFF2-40B4-BE49-F238E27FC236}">
                  <a16:creationId xmlns:a16="http://schemas.microsoft.com/office/drawing/2014/main" id="{1E43E843-CEEF-9B58-BAB6-E0FEFB947A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4" name="TextBox 39">
              <a:extLst>
                <a:ext uri="{FF2B5EF4-FFF2-40B4-BE49-F238E27FC236}">
                  <a16:creationId xmlns:a16="http://schemas.microsoft.com/office/drawing/2014/main" id="{B7A3D907-9F7C-D8D3-DE54-E07FC037F8C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7" name="Picture 6" descr="The image depicts a workflow diagram for a ticket booking web application, showing the process from user registration to payment confirmation, with various user actions, admin actions, and system processes.&#10;&#10;AI-generated content may be incorrect.">
            <a:extLst>
              <a:ext uri="{FF2B5EF4-FFF2-40B4-BE49-F238E27FC236}">
                <a16:creationId xmlns:a16="http://schemas.microsoft.com/office/drawing/2014/main" id="{B3C2D031-4F1E-0418-D338-04B34DDBA1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1146935"/>
            <a:ext cx="13341620" cy="83073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714500"/>
            <a:ext cx="15082325" cy="14096167"/>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Frontend:</a:t>
            </a:r>
          </a:p>
          <a:p>
            <a:r>
              <a:rPr lang="en-IN" sz="2800" dirty="0">
                <a:latin typeface="Times New Roman" panose="02020603050405020304" pitchFamily="18" charset="0"/>
                <a:cs typeface="Times New Roman" panose="02020603050405020304" pitchFamily="18" charset="0"/>
              </a:rPr>
              <a:t>• React JS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HTML, CSS, JavaScript</a:t>
            </a:r>
          </a:p>
          <a:p>
            <a:r>
              <a:rPr lang="en-IN" sz="2800" b="1" dirty="0">
                <a:latin typeface="Times New Roman" panose="02020603050405020304" pitchFamily="18" charset="0"/>
                <a:cs typeface="Times New Roman" panose="02020603050405020304" pitchFamily="18" charset="0"/>
              </a:rPr>
              <a:t>Backend:</a:t>
            </a:r>
          </a:p>
          <a:p>
            <a:r>
              <a:rPr lang="en-IN" sz="2800" dirty="0">
                <a:latin typeface="Times New Roman" panose="02020603050405020304" pitchFamily="18" charset="0"/>
                <a:cs typeface="Times New Roman" panose="02020603050405020304" pitchFamily="18" charset="0"/>
              </a:rPr>
              <a:t>• Node.js with Express.js</a:t>
            </a:r>
          </a:p>
          <a:p>
            <a:r>
              <a:rPr lang="en-IN" sz="2800" b="1" dirty="0">
                <a:latin typeface="Times New Roman" panose="02020603050405020304" pitchFamily="18" charset="0"/>
                <a:cs typeface="Times New Roman" panose="02020603050405020304" pitchFamily="18" charset="0"/>
              </a:rPr>
              <a:t>Database:</a:t>
            </a:r>
          </a:p>
          <a:p>
            <a:r>
              <a:rPr lang="en-IN" sz="2800" dirty="0">
                <a:latin typeface="Times New Roman" panose="02020603050405020304" pitchFamily="18" charset="0"/>
                <a:cs typeface="Times New Roman" panose="02020603050405020304" pitchFamily="18" charset="0"/>
              </a:rPr>
              <a:t>• MySQL</a:t>
            </a:r>
          </a:p>
          <a:p>
            <a:r>
              <a:rPr lang="en-IN" sz="2800" b="1" dirty="0">
                <a:latin typeface="Times New Roman" panose="02020603050405020304" pitchFamily="18" charset="0"/>
                <a:cs typeface="Times New Roman" panose="02020603050405020304" pitchFamily="18" charset="0"/>
              </a:rPr>
              <a:t>Tools:</a:t>
            </a:r>
          </a:p>
          <a:p>
            <a:r>
              <a:rPr lang="en-IN" sz="2800" dirty="0">
                <a:latin typeface="Times New Roman" panose="02020603050405020304" pitchFamily="18" charset="0"/>
                <a:cs typeface="Times New Roman" panose="02020603050405020304" pitchFamily="18" charset="0"/>
              </a:rPr>
              <a:t>• VS Code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MySQL Workbench</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Git &amp; GitHub</a:t>
            </a:r>
          </a:p>
          <a:p>
            <a:r>
              <a:rPr lang="en-IN" sz="2800" b="1" dirty="0">
                <a:latin typeface="Times New Roman" panose="02020603050405020304" pitchFamily="18" charset="0"/>
                <a:cs typeface="Times New Roman" panose="02020603050405020304" pitchFamily="18" charset="0"/>
              </a:rPr>
              <a:t>Hardware/Software Requirements:</a:t>
            </a:r>
          </a:p>
          <a:p>
            <a:r>
              <a:rPr lang="en-IN" sz="2800" dirty="0">
                <a:latin typeface="Times New Roman" panose="02020603050405020304" pitchFamily="18" charset="0"/>
                <a:cs typeface="Times New Roman" panose="02020603050405020304" pitchFamily="18" charset="0"/>
              </a:rPr>
              <a:t>• Minimum 4GB RAM</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Windows/Linux OS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Node.js &amp; MySQL installed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Web browser</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Internet connection</a:t>
            </a:r>
          </a:p>
          <a:p>
            <a:endParaRPr lang="en-US" sz="2800" dirty="0"/>
          </a:p>
          <a:p>
            <a:pPr marL="457200" indent="-457200">
              <a:buFontTx/>
              <a:buChar char="-"/>
            </a:pPr>
            <a:endParaRPr lang="en-US" sz="2800" dirty="0"/>
          </a:p>
          <a:p>
            <a:pPr marL="457200" indent="-457200">
              <a:lnSpc>
                <a:spcPct val="150000"/>
              </a:lnSpc>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a:extLst>
              <a:ext uri="{FF2B5EF4-FFF2-40B4-BE49-F238E27FC236}">
                <a16:creationId xmlns:a16="http://schemas.microsoft.com/office/drawing/2014/main" id="{4D847D41-4470-420F-942D-93587F92804D}"/>
              </a:ext>
            </a:extLst>
          </p:cNvPr>
          <p:cNvGrpSpPr/>
          <p:nvPr/>
        </p:nvGrpSpPr>
        <p:grpSpPr>
          <a:xfrm>
            <a:off x="14401800" y="-2955324"/>
            <a:ext cx="10994424" cy="10994424"/>
            <a:chOff x="0" y="0"/>
            <a:chExt cx="812800" cy="812800"/>
          </a:xfrm>
        </p:grpSpPr>
        <p:sp>
          <p:nvSpPr>
            <p:cNvPr id="3" name="Freeform 38">
              <a:extLst>
                <a:ext uri="{FF2B5EF4-FFF2-40B4-BE49-F238E27FC236}">
                  <a16:creationId xmlns:a16="http://schemas.microsoft.com/office/drawing/2014/main" id="{A4FD480D-1445-2C4B-DB46-82271E5DF7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4" name="TextBox 39">
              <a:extLst>
                <a:ext uri="{FF2B5EF4-FFF2-40B4-BE49-F238E27FC236}">
                  <a16:creationId xmlns:a16="http://schemas.microsoft.com/office/drawing/2014/main" id="{26A1CA4A-B4D1-F4E6-0933-879F4CA7F8F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6771084"/>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Module 1: </a:t>
            </a:r>
          </a:p>
          <a:p>
            <a:r>
              <a:rPr lang="en-US" sz="2800" dirty="0">
                <a:latin typeface="Times New Roman" panose="02020603050405020304" pitchFamily="18" charset="0"/>
                <a:cs typeface="Times New Roman" panose="02020603050405020304" pitchFamily="18" charset="0"/>
              </a:rPr>
              <a:t>Handles user registration, login, and authentication..</a:t>
            </a:r>
          </a:p>
          <a:p>
            <a:r>
              <a:rPr lang="en-US" sz="2800" b="1" dirty="0">
                <a:latin typeface="Times New Roman" panose="02020603050405020304" pitchFamily="18" charset="0"/>
                <a:cs typeface="Times New Roman" panose="02020603050405020304" pitchFamily="18" charset="0"/>
              </a:rPr>
              <a:t>Module 2: </a:t>
            </a:r>
          </a:p>
          <a:p>
            <a:r>
              <a:rPr lang="en-US" sz="2800" dirty="0">
                <a:latin typeface="Times New Roman" panose="02020603050405020304" pitchFamily="18" charset="0"/>
                <a:cs typeface="Times New Roman" panose="02020603050405020304" pitchFamily="18" charset="0"/>
              </a:rPr>
              <a:t>Displays events and allows users to book tickets.</a:t>
            </a:r>
          </a:p>
          <a:p>
            <a:r>
              <a:rPr lang="en-US" sz="2800" b="1" dirty="0">
                <a:latin typeface="Times New Roman" panose="02020603050405020304" pitchFamily="18" charset="0"/>
                <a:cs typeface="Times New Roman" panose="02020603050405020304" pitchFamily="18" charset="0"/>
              </a:rPr>
              <a:t>Module 3:</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Stores user data, event details, and bookings securely.</a:t>
            </a:r>
          </a:p>
          <a:p>
            <a:r>
              <a:rPr lang="en-US" sz="2800" b="1" dirty="0">
                <a:latin typeface="Times New Roman" panose="02020603050405020304" pitchFamily="18" charset="0"/>
                <a:cs typeface="Times New Roman" panose="02020603050405020304" pitchFamily="18" charset="0"/>
              </a:rPr>
              <a:t>Module 4: </a:t>
            </a:r>
          </a:p>
          <a:p>
            <a:r>
              <a:rPr lang="en-US" sz="2800" dirty="0">
                <a:latin typeface="Times New Roman" panose="02020603050405020304" pitchFamily="18" charset="0"/>
                <a:cs typeface="Times New Roman" panose="02020603050405020304" pitchFamily="18" charset="0"/>
              </a:rPr>
              <a:t>Generates reports on bookings and participant details.</a:t>
            </a:r>
            <a:endParaRPr lang="en-IN" sz="2800" dirty="0">
              <a:latin typeface="Times New Roman" panose="02020603050405020304" pitchFamily="18" charset="0"/>
              <a:cs typeface="Times New Roman" panose="02020603050405020304" pitchFamily="18" charset="0"/>
            </a:endParaRPr>
          </a:p>
          <a:p>
            <a:pPr>
              <a:lnSpc>
                <a:spcPct val="150000"/>
              </a:lnSpc>
            </a:pPr>
            <a:endParaRPr lang="en-IN" sz="2800" dirty="0">
              <a:latin typeface="Times New Roman" panose="02020603050405020304" pitchFamily="18" charset="0"/>
              <a:cs typeface="Times New Roman" panose="02020603050405020304" pitchFamily="18" charset="0"/>
            </a:endParaRP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693866"/>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26F8F491-75A6-7F9D-E109-E0B3E9F50505}"/>
              </a:ext>
            </a:extLst>
          </p:cNvPr>
          <p:cNvSpPr txBox="1"/>
          <p:nvPr/>
        </p:nvSpPr>
        <p:spPr>
          <a:xfrm>
            <a:off x="2054762" y="8278583"/>
            <a:ext cx="1539240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 Figure 1 The home page serves as the main interface for users to access the system</a:t>
            </a:r>
          </a:p>
        </p:txBody>
      </p:sp>
      <p:sp>
        <p:nvSpPr>
          <p:cNvPr id="6" name="TextBox 5">
            <a:extLst>
              <a:ext uri="{FF2B5EF4-FFF2-40B4-BE49-F238E27FC236}">
                <a16:creationId xmlns:a16="http://schemas.microsoft.com/office/drawing/2014/main" id="{059BCF7E-E367-6050-BDAF-028570E901C3}"/>
              </a:ext>
            </a:extLst>
          </p:cNvPr>
          <p:cNvSpPr txBox="1"/>
          <p:nvPr/>
        </p:nvSpPr>
        <p:spPr>
          <a:xfrm>
            <a:off x="6019800" y="7366476"/>
            <a:ext cx="54102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           Figure 1 : Home Page</a:t>
            </a:r>
          </a:p>
        </p:txBody>
      </p:sp>
      <p:pic>
        <p:nvPicPr>
          <p:cNvPr id="4" name="Picture 3" descr="BookzyTicket,&#10;&#10;AI-generated content may be incorrect.">
            <a:extLst>
              <a:ext uri="{FF2B5EF4-FFF2-40B4-BE49-F238E27FC236}">
                <a16:creationId xmlns:a16="http://schemas.microsoft.com/office/drawing/2014/main" id="{19B8768C-3C52-1ECF-0BBF-9F1CE3BE30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4037" y="1228642"/>
            <a:ext cx="10994424" cy="603539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D6489A0B-4DAE-055C-BDF6-064B38440038}"/>
              </a:ext>
            </a:extLst>
          </p:cNvPr>
          <p:cNvSpPr txBox="1"/>
          <p:nvPr/>
        </p:nvSpPr>
        <p:spPr>
          <a:xfrm>
            <a:off x="1728052" y="8801100"/>
            <a:ext cx="14883548"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 Figure 2 This section displays a list of upcoming events available for users</a:t>
            </a:r>
            <a:r>
              <a:rPr lang="en-US" sz="2800" dirty="0"/>
              <a:t>.</a:t>
            </a:r>
            <a:endParaRPr lang="en-US" sz="2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4B07476-4655-8D94-04D7-BB7FB0F125C2}"/>
              </a:ext>
            </a:extLst>
          </p:cNvPr>
          <p:cNvSpPr txBox="1"/>
          <p:nvPr/>
        </p:nvSpPr>
        <p:spPr>
          <a:xfrm>
            <a:off x="6553200" y="7908418"/>
            <a:ext cx="54102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Figure 2 : Explore Events Page</a:t>
            </a:r>
          </a:p>
        </p:txBody>
      </p:sp>
      <p:pic>
        <p:nvPicPr>
          <p:cNvPr id="4" name="Picture 3" descr="The image displays a webpage with a schedule for upcoming events, including a technical fest, a coding hackathon, and workshops on artificial intelligence and machine learning.&#10;&#10;AI-generated content may be incorrect.">
            <a:extLst>
              <a:ext uri="{FF2B5EF4-FFF2-40B4-BE49-F238E27FC236}">
                <a16:creationId xmlns:a16="http://schemas.microsoft.com/office/drawing/2014/main" id="{0BB31309-1711-3EF5-B0C2-A512F27EEC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969" y="1864067"/>
            <a:ext cx="12245109" cy="564010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C669F5E-D683-06DA-6F1A-B1A71266369B}"/>
              </a:ext>
            </a:extLst>
          </p:cNvPr>
          <p:cNvSpPr txBox="1"/>
          <p:nvPr/>
        </p:nvSpPr>
        <p:spPr>
          <a:xfrm>
            <a:off x="11441822" y="1697977"/>
            <a:ext cx="5257800" cy="267765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4" name="TextBox 33">
            <a:extLst>
              <a:ext uri="{FF2B5EF4-FFF2-40B4-BE49-F238E27FC236}">
                <a16:creationId xmlns:a16="http://schemas.microsoft.com/office/drawing/2014/main" id="{FD6C84D2-F0AD-CE98-1B2A-2997952CA7A8}"/>
              </a:ext>
            </a:extLst>
          </p:cNvPr>
          <p:cNvSpPr txBox="1"/>
          <p:nvPr/>
        </p:nvSpPr>
        <p:spPr>
          <a:xfrm>
            <a:off x="7124596" y="8063168"/>
            <a:ext cx="39624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Figure 3 : allotment</a:t>
            </a:r>
          </a:p>
        </p:txBody>
      </p:sp>
      <p:sp>
        <p:nvSpPr>
          <p:cNvPr id="38" name="TextBox 37">
            <a:extLst>
              <a:ext uri="{FF2B5EF4-FFF2-40B4-BE49-F238E27FC236}">
                <a16:creationId xmlns:a16="http://schemas.microsoft.com/office/drawing/2014/main" id="{B8D71F8F-510D-2C00-8F18-F6157C6F5BCB}"/>
              </a:ext>
            </a:extLst>
          </p:cNvPr>
          <p:cNvSpPr txBox="1"/>
          <p:nvPr/>
        </p:nvSpPr>
        <p:spPr>
          <a:xfrm>
            <a:off x="2268673" y="8877299"/>
            <a:ext cx="1569720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 Figure 3 This section displays the seating allotment for registered users. It shows the assigned seats</a:t>
            </a:r>
          </a:p>
        </p:txBody>
      </p:sp>
      <p:pic>
        <p:nvPicPr>
          <p:cNvPr id="6" name="Picture 5" descr="The image displays a booking interface on a webpage, with a selection of available seats and options for different stages.&#10;&#10;AI-generated content may be incorrect.">
            <a:extLst>
              <a:ext uri="{FF2B5EF4-FFF2-40B4-BE49-F238E27FC236}">
                <a16:creationId xmlns:a16="http://schemas.microsoft.com/office/drawing/2014/main" id="{50B91745-C52E-9A4E-BDDF-E3375ADAC5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6478" y="1335548"/>
            <a:ext cx="12889918" cy="6630909"/>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4E952C58-8480-45AF-A322-6DBD647D1E15}"/>
              </a:ext>
            </a:extLst>
          </p:cNvPr>
          <p:cNvSpPr txBox="1"/>
          <p:nvPr/>
        </p:nvSpPr>
        <p:spPr>
          <a:xfrm>
            <a:off x="2209800" y="1638300"/>
            <a:ext cx="15082325" cy="5693866"/>
          </a:xfrm>
          <a:prstGeom prst="rect">
            <a:avLst/>
          </a:prstGeom>
          <a:noFill/>
        </p:spPr>
        <p:txBody>
          <a:bodyPr wrap="square" rtlCol="0">
            <a:spAutoFit/>
          </a:bodyPr>
          <a:lstStyle/>
          <a:p>
            <a:pPr marL="457200" indent="-457200">
              <a:buFontTx/>
              <a:buChar char="-"/>
            </a:pPr>
            <a:r>
              <a:rPr lang="en-US" sz="2800" dirty="0"/>
              <a: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57955717-2421-9BBA-9B10-86313B362C70}"/>
              </a:ext>
            </a:extLst>
          </p:cNvPr>
          <p:cNvSpPr txBox="1"/>
          <p:nvPr/>
        </p:nvSpPr>
        <p:spPr>
          <a:xfrm>
            <a:off x="5715000" y="7291704"/>
            <a:ext cx="64770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Figure 4 : </a:t>
            </a:r>
            <a:r>
              <a:rPr lang="en-IN" sz="2800" dirty="0">
                <a:latin typeface="Times New Roman" panose="02020603050405020304" pitchFamily="18" charset="0"/>
                <a:cs typeface="Times New Roman" panose="02020603050405020304" pitchFamily="18" charset="0"/>
              </a:rPr>
              <a:t>Filling Details</a:t>
            </a:r>
            <a:endParaRPr lang="en-US" sz="28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3E0AFA9-278A-A27C-DE35-36EC8A8957C7}"/>
              </a:ext>
            </a:extLst>
          </p:cNvPr>
          <p:cNvSpPr txBox="1"/>
          <p:nvPr/>
        </p:nvSpPr>
        <p:spPr>
          <a:xfrm>
            <a:off x="1757876" y="8648699"/>
            <a:ext cx="15082325"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 Figure 4 Users fill in details such as name, contact information, and other necessary fields</a:t>
            </a:r>
          </a:p>
        </p:txBody>
      </p:sp>
      <p:pic>
        <p:nvPicPr>
          <p:cNvPr id="39" name="Picture 38" descr="Proceed to Payment&#10;&#10;AI-generated content may be incorrect.">
            <a:extLst>
              <a:ext uri="{FF2B5EF4-FFF2-40B4-BE49-F238E27FC236}">
                <a16:creationId xmlns:a16="http://schemas.microsoft.com/office/drawing/2014/main" id="{11D496FB-23BC-1051-D19B-1DDA7B8B6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8599" y="1435889"/>
            <a:ext cx="15240000" cy="5396813"/>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ADB03-5949-76CF-730D-FE5AC6B020D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0341F564-4633-428C-1F61-C503FD5273F1}"/>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E1FA13A8-928A-9F16-48B2-4EDC4C148B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23C684A6-1477-B610-0A9F-CDE5A866C9C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6BFD91F5-CD9A-E8BA-7FF7-B828C51DBDAA}"/>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1D3B593-5A0E-46DF-756F-9A6B7242137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C946D6BE-BC77-E9AB-16E6-CEAE4EC0386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9330135-71E2-ADA0-7F41-06E42DB5D58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BFA87DBC-CC89-B390-A600-F2BCC5965AD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ECA32750-0933-E1A1-02FD-38092240BB6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6C689BC3-874A-43DE-7ADA-76D7D45F17BE}"/>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3AAAE51B-4974-D365-CB1C-3417B949CB4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9D04FC35-9F18-F798-684B-6BBE67C4701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5670C5D5-4C3F-1D22-E9E5-0681D9C0FF3F}"/>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CDB16E9D-BC44-D564-5FDF-928384F97CD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CB15F0F5-9239-83CF-3B8C-609163E6FF0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0567A03-29B2-4F9E-E631-36FE41FB4BC1}"/>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3A0904EA-F016-AFDC-A93E-B4FBF8DF5EC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1D2E5C0B-6A56-6C5E-3BFF-5914EABDA1A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C49E1BF9-01E4-4D78-0B81-1515246F3BDF}"/>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7A615322-55A4-6B71-EFFE-393EDD590EA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89A62FE6-6F7A-31CB-33FC-4089D50C8E8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E5E3F7C-D94E-AEED-EB88-5EF146652DE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F97EDCC-00E9-DB52-74AC-0D01F0EF633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487E87BA-4DFA-76C8-6EE6-6878BA06A52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2C2200B9-01A2-94A2-1F5B-1D6A25073A7A}"/>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3926722E-12F6-5180-2638-ACFB885B5AA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8EC42E6E-8AD6-04E2-8BD4-7FBD7CBDD24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72E90A24-DC79-6DE6-2922-BC4E3DF1ABCE}"/>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36050E7B-D09F-A7E8-04A5-30F04395C26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BA8DA712-CF93-8857-BCB8-2E1D0BE7153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1063915-37FA-F966-5F01-81884DC752A6}"/>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442051EF-BCD0-491C-2351-0C381CC1977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A3A83030-2F2A-8C96-2FEF-10234ABBF003}"/>
              </a:ext>
            </a:extLst>
          </p:cNvPr>
          <p:cNvSpPr txBox="1"/>
          <p:nvPr/>
        </p:nvSpPr>
        <p:spPr>
          <a:xfrm>
            <a:off x="2209800" y="1638300"/>
            <a:ext cx="15082325" cy="6124754"/>
          </a:xfrm>
          <a:prstGeom prst="rect">
            <a:avLst/>
          </a:prstGeom>
          <a:noFill/>
        </p:spPr>
        <p:txBody>
          <a:bodyPr wrap="square" rtlCol="0">
            <a:spAutoFit/>
          </a:bodyPr>
          <a:lstStyle/>
          <a:p>
            <a:pPr marL="457200" indent="-457200">
              <a:buFontTx/>
              <a:buChar char="-"/>
            </a:pPr>
            <a:r>
              <a:rPr lang="en-US" sz="2800" dirty="0"/>
              <a:t>Module 2 Screenshot</a:t>
            </a:r>
          </a:p>
          <a:p>
            <a:r>
              <a:rPr lang="en-US" sz="2800" dirty="0"/>
              <a:t>Explain in 1–2 lines.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D2D2A3D6-B320-0EAA-CB37-F074148C19E0}"/>
              </a:ext>
            </a:extLst>
          </p:cNvPr>
          <p:cNvSpPr txBox="1"/>
          <p:nvPr/>
        </p:nvSpPr>
        <p:spPr>
          <a:xfrm>
            <a:off x="7620000" y="7947614"/>
            <a:ext cx="4419600"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Figure 5 : Payment Description</a:t>
            </a:r>
          </a:p>
        </p:txBody>
      </p:sp>
      <p:sp>
        <p:nvSpPr>
          <p:cNvPr id="6" name="TextBox 5">
            <a:extLst>
              <a:ext uri="{FF2B5EF4-FFF2-40B4-BE49-F238E27FC236}">
                <a16:creationId xmlns:a16="http://schemas.microsoft.com/office/drawing/2014/main" id="{B1DE1874-8C73-8345-8ECD-FDA2DC3B53CF}"/>
              </a:ext>
            </a:extLst>
          </p:cNvPr>
          <p:cNvSpPr txBox="1"/>
          <p:nvPr/>
        </p:nvSpPr>
        <p:spPr>
          <a:xfrm>
            <a:off x="2590800" y="8801100"/>
            <a:ext cx="14249400" cy="954107"/>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This Figure 5 This section enables users to complete the payment process for event registration. It displays the payment details and available payment options</a:t>
            </a:r>
            <a:r>
              <a:rPr lang="en-US" dirty="0"/>
              <a:t>,</a:t>
            </a:r>
          </a:p>
        </p:txBody>
      </p:sp>
      <p:pic>
        <p:nvPicPr>
          <p:cNvPr id="34" name="Picture 33" descr="The image displays a booking summary for a ticket, listing the customer's name, email, total cost, and various payment options.&#10;&#10;AI-generated content may be incorrect.">
            <a:extLst>
              <a:ext uri="{FF2B5EF4-FFF2-40B4-BE49-F238E27FC236}">
                <a16:creationId xmlns:a16="http://schemas.microsoft.com/office/drawing/2014/main" id="{7C0AFD8D-4073-D970-6E8C-3A661D9DB9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087" y="1408323"/>
            <a:ext cx="12100043" cy="6352523"/>
          </a:xfrm>
          <a:prstGeom prst="rect">
            <a:avLst/>
          </a:prstGeom>
        </p:spPr>
      </p:pic>
    </p:spTree>
    <p:extLst>
      <p:ext uri="{BB962C8B-B14F-4D97-AF65-F5344CB8AC3E}">
        <p14:creationId xmlns:p14="http://schemas.microsoft.com/office/powerpoint/2010/main" val="2115207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31A08-FC7E-E512-85E3-5A8DF3EBA1E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0BB2DCE9-09B2-3827-0C54-7250AFB7359C}"/>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92DCF036-D101-249B-C54F-D58E4E597AB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D1170D6-06BB-DFFF-2477-50FD484405A4}"/>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3785E3DA-43D7-6E2B-749D-244B47A44AF5}"/>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1087445-13BC-A3C2-4EAB-172A2DFF827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D6BC875-4EF7-1E48-E27F-CD2CB9084C9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9A246BAE-7768-85A5-769E-DD4E0EC948CC}"/>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D5386C6-D378-1F86-3A74-665CAF7093C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388E6EA-CC2C-1138-B38D-334C1FAC676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4FAEF74E-26CF-34A1-C455-EACB215CD50D}"/>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8D273E81-3F09-3E12-65AB-91ACBC666CE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50AFF68D-04DA-05F5-EEFC-F8696BEA8B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1E02272-B02D-8927-8DE9-30A71B1B5C03}"/>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D15D95B6-3A29-FC02-EB48-9FEF5DF2BE2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7EE3B5F9-3E74-DB4B-8449-14B55FBC13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379B76B1-565E-D6B4-A58D-F5B455AB933C}"/>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802AF821-05F9-F6C8-352E-991A3B7F530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B17ECA61-F265-684D-5BC5-25BD519341D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249936D-46DB-340A-ADF8-78F415479855}"/>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A2C15C50-2FF6-0A35-9919-1804313CC7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23C08F9B-98FC-EAA8-F170-9DFC72F1E2D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6B638819-E938-92E6-85E3-83DB4781E6A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8A0F2E00-1F56-DA43-BC39-CF1D23BBE2D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2574F49-B0CA-ABD8-06B6-8B63313AC83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59DF8B14-A995-2A5D-D49A-5FEB6109B7AC}"/>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E9DDC544-CFB7-FF35-C651-90DB255994C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5519A7CF-36B0-E5DF-CA4C-E3305A017B1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9A1EE6FB-E3CE-2D3B-EEF8-29E237D90D77}"/>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D029D1-9105-EAFF-D51D-80FFB3E7888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A37FCF64-A25F-B7B1-3231-F0ED02AB601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825A7B4E-B6B6-4A34-72D3-B680576DECA5}"/>
              </a:ext>
            </a:extLst>
          </p:cNvPr>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D36598B5-E12E-2312-2D11-26F42AEFD3F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A1A4B2BB-27EE-9136-DC70-3E3D3A0AB764}"/>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TextBox 4">
            <a:extLst>
              <a:ext uri="{FF2B5EF4-FFF2-40B4-BE49-F238E27FC236}">
                <a16:creationId xmlns:a16="http://schemas.microsoft.com/office/drawing/2014/main" id="{84288B27-165F-5E1A-177E-ED72A88FDAA4}"/>
              </a:ext>
            </a:extLst>
          </p:cNvPr>
          <p:cNvSpPr txBox="1"/>
          <p:nvPr/>
        </p:nvSpPr>
        <p:spPr>
          <a:xfrm>
            <a:off x="6477000" y="7971473"/>
            <a:ext cx="53340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Figure 6 : </a:t>
            </a:r>
            <a:r>
              <a:rPr lang="en-US" sz="2800" b="1" dirty="0" err="1">
                <a:latin typeface="Times New Roman" panose="02020603050405020304" pitchFamily="18" charset="0"/>
                <a:cs typeface="Times New Roman" panose="02020603050405020304" pitchFamily="18" charset="0"/>
              </a:rPr>
              <a:t>Sucessful</a:t>
            </a:r>
            <a:r>
              <a:rPr lang="en-US" sz="2800" b="1" dirty="0">
                <a:latin typeface="Times New Roman" panose="02020603050405020304" pitchFamily="18" charset="0"/>
                <a:cs typeface="Times New Roman" panose="02020603050405020304" pitchFamily="18" charset="0"/>
              </a:rPr>
              <a:t> Booking</a:t>
            </a:r>
          </a:p>
        </p:txBody>
      </p:sp>
      <p:sp>
        <p:nvSpPr>
          <p:cNvPr id="6" name="TextBox 5">
            <a:extLst>
              <a:ext uri="{FF2B5EF4-FFF2-40B4-BE49-F238E27FC236}">
                <a16:creationId xmlns:a16="http://schemas.microsoft.com/office/drawing/2014/main" id="{E43B04FE-4578-70C6-9DB9-8CA02F08BA92}"/>
              </a:ext>
            </a:extLst>
          </p:cNvPr>
          <p:cNvSpPr txBox="1"/>
          <p:nvPr/>
        </p:nvSpPr>
        <p:spPr>
          <a:xfrm>
            <a:off x="2209800" y="8724900"/>
            <a:ext cx="1478280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 Figure 6 </a:t>
            </a:r>
            <a:r>
              <a:rPr lang="en-US" sz="2800" dirty="0"/>
              <a:t>This section displays a message confirming that the event has been successfully booked</a:t>
            </a:r>
          </a:p>
        </p:txBody>
      </p:sp>
      <p:pic>
        <p:nvPicPr>
          <p:cNvPr id="34" name="Picture 33" descr="The image displays a booking confirmation page with details of a successfully booked ticket for the Coding Hackathon, including the user's name, email, and paid amount.&#10;&#10;AI-generated content may be incorrect.">
            <a:extLst>
              <a:ext uri="{FF2B5EF4-FFF2-40B4-BE49-F238E27FC236}">
                <a16:creationId xmlns:a16="http://schemas.microsoft.com/office/drawing/2014/main" id="{C7D65A9E-3A45-90C8-2738-31BDBC6613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3874" y="1695450"/>
            <a:ext cx="15240000" cy="5793906"/>
          </a:xfrm>
          <a:prstGeom prst="rect">
            <a:avLst/>
          </a:prstGeom>
        </p:spPr>
      </p:pic>
    </p:spTree>
    <p:extLst>
      <p:ext uri="{BB962C8B-B14F-4D97-AF65-F5344CB8AC3E}">
        <p14:creationId xmlns:p14="http://schemas.microsoft.com/office/powerpoint/2010/main" val="120098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91B9AFB-9426-EE18-39D4-382C727D41CF}"/>
              </a:ext>
            </a:extLst>
          </p:cNvPr>
          <p:cNvSpPr>
            <a:spLocks noChangeArrowheads="1"/>
          </p:cNvSpPr>
          <p:nvPr/>
        </p:nvSpPr>
        <p:spPr bwMode="auto">
          <a:xfrm>
            <a:off x="0" y="-323167"/>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4" name="TextBox 33">
            <a:extLst>
              <a:ext uri="{FF2B5EF4-FFF2-40B4-BE49-F238E27FC236}">
                <a16:creationId xmlns:a16="http://schemas.microsoft.com/office/drawing/2014/main" id="{FFBB50A4-7377-0326-692D-F3354702C52A}"/>
              </a:ext>
            </a:extLst>
          </p:cNvPr>
          <p:cNvSpPr txBox="1"/>
          <p:nvPr/>
        </p:nvSpPr>
        <p:spPr>
          <a:xfrm>
            <a:off x="2141284" y="1427599"/>
            <a:ext cx="18865927" cy="7848302"/>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Centralized platform for managing all events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Reduces manual work and human errors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Easy access to event details anytime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Quick and simple registration process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Instant booking confirmation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Efficient tracking of participants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Better event management and organization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Saves time for users and organizers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Improves communication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User-friendly interface </a:t>
            </a:r>
          </a:p>
          <a:p>
            <a:pPr>
              <a:buNone/>
            </a:pPr>
            <a:r>
              <a:rPr lang="en-US" sz="2800" b="1" dirty="0">
                <a:latin typeface="Times New Roman" panose="02020603050405020304" pitchFamily="18" charset="0"/>
                <a:cs typeface="Times New Roman" panose="02020603050405020304" pitchFamily="18" charset="0"/>
              </a:rPr>
              <a:t>LIMITATIONS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Requires stable internet connection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Initial setup needs technical knowledge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Possible security risks if not properly managed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May be difficult for non-technical users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System failures can affect access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Requires regular maintenance.</a:t>
            </a:r>
          </a:p>
        </p:txBody>
      </p:sp>
    </p:spTree>
    <p:extLst>
      <p:ext uri="{BB962C8B-B14F-4D97-AF65-F5344CB8AC3E}">
        <p14:creationId xmlns:p14="http://schemas.microsoft.com/office/powerpoint/2010/main" val="1838976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382</TotalTime>
  <Words>1303</Words>
  <Application>Microsoft Office PowerPoint</Application>
  <PresentationFormat>Custom</PresentationFormat>
  <Paragraphs>397</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Cambria</vt:lpstr>
      <vt:lpstr>Arial</vt:lpstr>
      <vt:lpstr>Wingdings</vt:lpstr>
      <vt:lpstr>Bookman Old Style</vt:lpstr>
      <vt:lpstr>Gotham</vt:lpstr>
      <vt:lpstr>Times New Roman</vt:lpstr>
      <vt:lpstr>Calibri</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Gali Kalpana</dc:creator>
  <cp:lastModifiedBy>sri A</cp:lastModifiedBy>
  <cp:revision>16</cp:revision>
  <dcterms:created xsi:type="dcterms:W3CDTF">2006-08-16T00:00:00Z</dcterms:created>
  <dcterms:modified xsi:type="dcterms:W3CDTF">2026-05-05T18:19:58Z</dcterms:modified>
  <dc:identifier>DAHCaYqJ9OU</dc:identifier>
</cp:coreProperties>
</file>