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8"/>
      <p:bold r:id="rId19"/>
      <p:italic r:id="rId20"/>
      <p:boldItalic r:id="rId21"/>
    </p:embeddedFont>
    <p:embeddedFont>
      <p:font typeface="Cambria" panose="02040503050406030204" pitchFamily="18" charset="0"/>
      <p:regular r:id="rId22"/>
      <p:bold r:id="rId23"/>
      <p:italic r:id="rId24"/>
      <p:boldItalic r:id="rId25"/>
    </p:embeddedFont>
    <p:embeddedFont>
      <p:font typeface="Gotham" panose="020B0604020202020204" charset="0"/>
      <p:regular r:id="rId26"/>
    </p:embeddedFont>
    <p:embeddedFont>
      <p:font typeface="Gotham Bold Italics"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A"/>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9" d="100"/>
          <a:sy n="39" d="100"/>
        </p:scale>
        <p:origin x="128" y="52"/>
      </p:cViewPr>
      <p:guideLst>
        <p:guide orient="horz" pos="2160"/>
        <p:guide pos="2880"/>
      </p:guideLst>
    </p:cSldViewPr>
  </p:slideViewPr>
  <p:outlineViewPr>
    <p:cViewPr>
      <p:scale>
        <a:sx n="33" d="100"/>
        <a:sy n="33" d="100"/>
      </p:scale>
      <p:origin x="0" y="0"/>
    </p:cViewPr>
  </p:outlin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AB4575-61D1-4B02-AA6C-3776F65093C6}" type="datetimeFigureOut">
              <a:rPr lang="en-IN" smtClean="0"/>
              <a:t>03-03-2026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8AB35A-7D43-4605-95FC-73D055096205}" type="slidenum">
              <a:rPr lang="en-IN" smtClean="0"/>
              <a:t>‹#›</a:t>
            </a:fld>
            <a:endParaRPr lang="en-IN"/>
          </a:p>
        </p:txBody>
      </p:sp>
    </p:spTree>
    <p:extLst>
      <p:ext uri="{BB962C8B-B14F-4D97-AF65-F5344CB8AC3E}">
        <p14:creationId xmlns:p14="http://schemas.microsoft.com/office/powerpoint/2010/main" val="3378363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18AB35A-7D43-4605-95FC-73D055096205}" type="slidenum">
              <a:rPr lang="en-IN" smtClean="0"/>
              <a:t>6</a:t>
            </a:fld>
            <a:endParaRPr lang="en-IN"/>
          </a:p>
        </p:txBody>
      </p:sp>
    </p:spTree>
    <p:extLst>
      <p:ext uri="{BB962C8B-B14F-4D97-AF65-F5344CB8AC3E}">
        <p14:creationId xmlns:p14="http://schemas.microsoft.com/office/powerpoint/2010/main" val="6124916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04-03-2026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dirty="0">
                <a:solidFill>
                  <a:srgbClr val="00339A"/>
                </a:solidFill>
                <a:latin typeface="Times New Roman" panose="02020603050405020304" pitchFamily="18" charset="0"/>
                <a:cs typeface="Times New Roman" panose="02020603050405020304" pitchFamily="18" charset="0"/>
              </a:rPr>
              <a:t>End-to-End Event Lifecycle &amp; Ticketing Platform</a:t>
            </a:r>
            <a:endParaRPr lang="en-IN" sz="3200" b="1" dirty="0">
              <a:solidFill>
                <a:srgbClr val="00339A"/>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208416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K.BUNNY PREETHAM– VTU26337 –23UECS1273</a:t>
            </a:r>
          </a:p>
          <a:p>
            <a:pPr>
              <a:lnSpc>
                <a:spcPct val="150000"/>
              </a:lnSpc>
            </a:pP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216982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 </a:t>
            </a:r>
            <a:r>
              <a:rPr lang="en-US" sz="3000" dirty="0" err="1">
                <a:latin typeface="Cambria" panose="02040503050406030204" pitchFamily="18" charset="0"/>
                <a:ea typeface="Cambria" panose="02040503050406030204" pitchFamily="18" charset="0"/>
              </a:rPr>
              <a:t>Hemamalini,M.E,Ph.D</a:t>
            </a:r>
            <a:r>
              <a:rPr lang="en-US" sz="3000" dirty="0">
                <a:latin typeface="Cambria" panose="02040503050406030204" pitchFamily="18" charset="0"/>
                <a:ea typeface="Cambria" panose="02040503050406030204" pitchFamily="18" charset="0"/>
              </a:rPr>
              <a:t>.,</a:t>
            </a:r>
          </a:p>
          <a:p>
            <a:pPr>
              <a:lnSpc>
                <a:spcPct val="150000"/>
              </a:lnSpc>
            </a:pPr>
            <a:r>
              <a:rPr lang="en-US" sz="3000" dirty="0">
                <a:latin typeface="Cambria" panose="02040503050406030204" pitchFamily="18" charset="0"/>
                <a:ea typeface="Cambria" panose="02040503050406030204" pitchFamily="18" charset="0"/>
              </a:rPr>
              <a:t>Assistant Professor (senior grade)</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133600" y="1985855"/>
            <a:ext cx="15463325" cy="8279190"/>
          </a:xfrm>
          <a:prstGeom prst="rect">
            <a:avLst/>
          </a:prstGeom>
          <a:noFill/>
        </p:spPr>
        <p:txBody>
          <a:bodyPr wrap="square" rtlCol="0">
            <a:spAutoFit/>
          </a:bodyPr>
          <a:lstStyle/>
          <a:p>
            <a:r>
              <a:rPr lang="en-GB" sz="2800" b="1" dirty="0"/>
              <a:t>Background:</a:t>
            </a:r>
          </a:p>
          <a:p>
            <a:pPr marL="457200" indent="-457200">
              <a:buFont typeface="Arial" panose="020B0604020202020204" pitchFamily="34" charset="0"/>
              <a:buChar char="•"/>
            </a:pPr>
            <a:r>
              <a:rPr lang="en-US" sz="2800" dirty="0"/>
              <a:t>Traditional event management processes involve manual coordination for event planning, ticket booking, attendee registration, and payment handling. These processes are often time-consuming, unorganized, and prone to errors.</a:t>
            </a:r>
            <a:endParaRPr lang="en-GB" sz="2800" dirty="0"/>
          </a:p>
          <a:p>
            <a:pPr marL="457200" indent="-457200">
              <a:buFont typeface="Arial" panose="020B0604020202020204" pitchFamily="34" charset="0"/>
              <a:buChar char="•"/>
            </a:pPr>
            <a:endParaRPr lang="en-GB" sz="2800" dirty="0"/>
          </a:p>
          <a:p>
            <a:r>
              <a:rPr lang="en-GB" sz="2800" b="1" dirty="0"/>
              <a:t>Need for the Project:</a:t>
            </a:r>
          </a:p>
          <a:p>
            <a:pPr marL="457200" indent="-457200">
              <a:buFont typeface="Arial" panose="020B0604020202020204" pitchFamily="34" charset="0"/>
              <a:buChar char="•"/>
            </a:pPr>
            <a:r>
              <a:rPr lang="en-US" sz="2800" dirty="0"/>
              <a:t>Manual event handling leads to issues such as overbooking, ticket duplication, delayed confirmations, and lack of real-time tracking. Event organizers require a centralized system to manage the complete event lifecycle efficiently.</a:t>
            </a:r>
            <a:endParaRPr lang="en-GB" sz="2800" dirty="0"/>
          </a:p>
          <a:p>
            <a:r>
              <a:rPr lang="en-GB" sz="2800" b="1" dirty="0"/>
              <a:t>Real-World Relevance:</a:t>
            </a:r>
          </a:p>
          <a:p>
            <a:pPr marL="457200" indent="-457200">
              <a:buFont typeface="Arial" panose="020B0604020202020204" pitchFamily="34" charset="0"/>
              <a:buChar char="•"/>
            </a:pPr>
            <a:r>
              <a:rPr lang="en-US" sz="2800" dirty="0"/>
              <a:t>With the rapid growth of digital platforms, concerts, conferences, workshops, and college events require automated ticket booking systems with secure payment integration and instant confirmation features.</a:t>
            </a:r>
            <a:endParaRPr lang="en-GB" sz="2800" dirty="0"/>
          </a:p>
          <a:p>
            <a:r>
              <a:rPr lang="en-GB" sz="2800" b="1" dirty="0"/>
              <a:t>System Overview:</a:t>
            </a:r>
          </a:p>
          <a:p>
            <a:pPr marL="457200" indent="-457200">
              <a:buFont typeface="Arial" panose="020B0604020202020204" pitchFamily="34" charset="0"/>
              <a:buChar char="•"/>
            </a:pPr>
            <a:r>
              <a:rPr lang="en-US" sz="2800" dirty="0"/>
              <a:t>The proposed </a:t>
            </a:r>
            <a:r>
              <a:rPr lang="en-US" sz="2800" b="1" dirty="0"/>
              <a:t>End-to-End Event Lifecycle &amp; Ticketing Platform</a:t>
            </a:r>
            <a:r>
              <a:rPr lang="en-US" sz="2800" dirty="0"/>
              <a:t> is a web-based system that allows administrators to create and manage events, while users can browse events, book tickets, and receive instant confirmations. The platform automates event creation, ticket sales, user registration, payment tracking, and result analytics in a structured and efficient manner.</a:t>
            </a:r>
          </a:p>
          <a:p>
            <a:pPr marL="457200" indent="-457200">
              <a:buFont typeface="Arial" panose="020B0604020202020204" pitchFamily="34" charset="0"/>
              <a:buChar char="•"/>
            </a:pPr>
            <a:endParaRPr lang="en-GB" sz="28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176975" y="2135315"/>
            <a:ext cx="15082325" cy="7848302"/>
          </a:xfrm>
          <a:prstGeom prst="rect">
            <a:avLst/>
          </a:prstGeom>
          <a:noFill/>
        </p:spPr>
        <p:txBody>
          <a:bodyPr wrap="square" rtlCol="0">
            <a:spAutoFit/>
          </a:bodyPr>
          <a:lstStyle/>
          <a:p>
            <a:r>
              <a:rPr lang="en-US" sz="2800" dirty="0"/>
              <a:t>Despite technological advancements, many event organizers still depend on spreadsheets, manual registrations, and offline ticketing methods. This results in:</a:t>
            </a:r>
          </a:p>
          <a:p>
            <a:pPr marL="457200" indent="-457200">
              <a:buFont typeface="Arial" panose="020B0604020202020204" pitchFamily="34" charset="0"/>
              <a:buChar char="•"/>
            </a:pPr>
            <a:r>
              <a:rPr lang="en-US" sz="2800" dirty="0"/>
              <a:t>Poor coordination and tracking</a:t>
            </a:r>
          </a:p>
          <a:p>
            <a:pPr marL="457200" indent="-457200">
              <a:buFont typeface="Arial" panose="020B0604020202020204" pitchFamily="34" charset="0"/>
              <a:buChar char="•"/>
            </a:pPr>
            <a:r>
              <a:rPr lang="en-US" sz="2800" dirty="0"/>
              <a:t>Errors in ticket allocation</a:t>
            </a:r>
          </a:p>
          <a:p>
            <a:pPr marL="457200" indent="-457200">
              <a:buFont typeface="Arial" panose="020B0604020202020204" pitchFamily="34" charset="0"/>
              <a:buChar char="•"/>
            </a:pPr>
            <a:r>
              <a:rPr lang="en-US" sz="2800" dirty="0"/>
              <a:t>Lack of real-time seat availability updates</a:t>
            </a:r>
          </a:p>
          <a:p>
            <a:pPr marL="457200" indent="-457200">
              <a:buFont typeface="Arial" panose="020B0604020202020204" pitchFamily="34" charset="0"/>
              <a:buChar char="•"/>
            </a:pPr>
            <a:r>
              <a:rPr lang="en-US" sz="2800" dirty="0"/>
              <a:t>Delays in payment verification</a:t>
            </a:r>
          </a:p>
          <a:p>
            <a:pPr marL="457200" indent="-457200">
              <a:buFont typeface="Arial" panose="020B0604020202020204" pitchFamily="34" charset="0"/>
              <a:buChar char="•"/>
            </a:pPr>
            <a:r>
              <a:rPr lang="en-US" sz="2800" dirty="0"/>
              <a:t>Difficulty in managing large-scale events</a:t>
            </a:r>
          </a:p>
          <a:p>
            <a:r>
              <a:rPr lang="en-US" sz="2800" dirty="0"/>
              <a:t>There is a strong need for a secure, scalable, and automated event management system that streamlines the complete lifecycle of an event — from creation to ticket sales and final reporting.</a:t>
            </a:r>
          </a:p>
          <a:p>
            <a:pPr marL="457200" indent="-457200">
              <a:buFontTx/>
              <a:buChar char="-"/>
            </a:pPr>
            <a:endParaRPr lang="en-US" sz="2800" dirty="0"/>
          </a:p>
          <a:p>
            <a:pPr marL="457200" indent="-457200">
              <a:buFont typeface="Arial" panose="020B0604020202020204" pitchFamily="34" charset="0"/>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32" name="Rectangle 9">
            <a:extLst>
              <a:ext uri="{FF2B5EF4-FFF2-40B4-BE49-F238E27FC236}">
                <a16:creationId xmlns:a16="http://schemas.microsoft.com/office/drawing/2014/main" id="{1AF4483A-23EA-FE06-205E-038F989B7A49}"/>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Poor coordination and tracking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3" name="Rectangle 10">
            <a:extLst>
              <a:ext uri="{FF2B5EF4-FFF2-40B4-BE49-F238E27FC236}">
                <a16:creationId xmlns:a16="http://schemas.microsoft.com/office/drawing/2014/main" id="{988694FA-1A4F-C1F4-D3BE-5F099D83834D}"/>
              </a:ext>
            </a:extLst>
          </p:cNvPr>
          <p:cNvSpPr>
            <a:spLocks noChangeArrowheads="1"/>
          </p:cNvSpPr>
          <p:nvPr/>
        </p:nvSpPr>
        <p:spPr bwMode="auto">
          <a:xfrm>
            <a:off x="152400" y="1524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Poor coordination and tracking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057400" y="2015465"/>
            <a:ext cx="15082325" cy="4616648"/>
          </a:xfrm>
          <a:prstGeom prst="rect">
            <a:avLst/>
          </a:prstGeom>
          <a:noFill/>
        </p:spPr>
        <p:txBody>
          <a:bodyPr wrap="square" rtlCol="0">
            <a:spAutoFit/>
          </a:bodyPr>
          <a:lstStyle/>
          <a:p>
            <a:pPr marL="457200" indent="-457200">
              <a:buFont typeface="Arial" panose="020B0604020202020204" pitchFamily="34" charset="0"/>
              <a:buChar char="•"/>
            </a:pPr>
            <a:r>
              <a:rPr lang="en-US" sz="2800" dirty="0"/>
              <a:t>To design and develop a full-stack web-based event management system</a:t>
            </a:r>
          </a:p>
          <a:p>
            <a:pPr marL="457200" indent="-457200">
              <a:buFont typeface="Arial" panose="020B0604020202020204" pitchFamily="34" charset="0"/>
              <a:buChar char="•"/>
            </a:pPr>
            <a:r>
              <a:rPr lang="en-US" sz="2800" dirty="0"/>
              <a:t>To provide secure user authentication and role-based access</a:t>
            </a:r>
          </a:p>
          <a:p>
            <a:pPr marL="457200" indent="-457200">
              <a:buFont typeface="Arial" panose="020B0604020202020204" pitchFamily="34" charset="0"/>
              <a:buChar char="•"/>
            </a:pPr>
            <a:r>
              <a:rPr lang="en-US" sz="2800" dirty="0"/>
              <a:t>To allow admins to create, update, and manage events dynamically</a:t>
            </a:r>
          </a:p>
          <a:p>
            <a:pPr marL="457200" indent="-457200">
              <a:buFont typeface="Arial" panose="020B0604020202020204" pitchFamily="34" charset="0"/>
              <a:buChar char="•"/>
            </a:pPr>
            <a:r>
              <a:rPr lang="en-US" sz="2800" dirty="0"/>
              <a:t>To enable users to browse events and book tickets easily</a:t>
            </a:r>
          </a:p>
          <a:p>
            <a:pPr marL="457200" indent="-457200">
              <a:buFont typeface="Arial" panose="020B0604020202020204" pitchFamily="34" charset="0"/>
              <a:buChar char="•"/>
            </a:pPr>
            <a:r>
              <a:rPr lang="en-US" sz="2800" dirty="0"/>
              <a:t>To integrate automated ticket generation and confirmation</a:t>
            </a:r>
          </a:p>
          <a:p>
            <a:pPr marL="457200" indent="-457200">
              <a:buFont typeface="Arial" panose="020B0604020202020204" pitchFamily="34" charset="0"/>
              <a:buChar char="•"/>
            </a:pPr>
            <a:r>
              <a:rPr lang="en-US" sz="2800" dirty="0"/>
              <a:t>To maintain event and booking data efficiently in a database</a:t>
            </a:r>
          </a:p>
          <a:p>
            <a:pPr marL="457200" indent="-457200">
              <a:buFont typeface="Arial" panose="020B0604020202020204" pitchFamily="34" charset="0"/>
              <a:buChar char="•"/>
            </a:pPr>
            <a:r>
              <a:rPr lang="en-US" sz="2800" dirty="0"/>
              <a:t>To ensure transparency, accuracy, and real-time updates</a:t>
            </a:r>
          </a:p>
          <a:p>
            <a:pPr>
              <a:lnSpc>
                <a:spcPct val="150000"/>
              </a:lnSpc>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1981200" y="2052809"/>
            <a:ext cx="15082325" cy="9140964"/>
          </a:xfrm>
          <a:prstGeom prst="rect">
            <a:avLst/>
          </a:prstGeom>
          <a:noFill/>
        </p:spPr>
        <p:txBody>
          <a:bodyPr wrap="square" rtlCol="0">
            <a:spAutoFit/>
          </a:bodyPr>
          <a:lstStyle/>
          <a:p>
            <a:r>
              <a:rPr lang="en-US" sz="2800" dirty="0"/>
              <a:t>After analyzing the drawbacks of traditional event handling methods, a web-based End-to-End Event Lifecycle &amp; Ticketing Platform is proposed.</a:t>
            </a:r>
          </a:p>
          <a:p>
            <a:endParaRPr lang="en-US" sz="2800" dirty="0"/>
          </a:p>
          <a:p>
            <a:r>
              <a:rPr lang="en-US" sz="2800" dirty="0"/>
              <a:t>The system includes:</a:t>
            </a:r>
          </a:p>
          <a:p>
            <a:endParaRPr lang="en-US" sz="2800" dirty="0"/>
          </a:p>
          <a:p>
            <a:pPr marL="457200" indent="-457200">
              <a:buFont typeface="Arial" panose="020B0604020202020204" pitchFamily="34" charset="0"/>
              <a:buChar char="•"/>
            </a:pPr>
            <a:r>
              <a:rPr lang="en-US" sz="2800" b="1" dirty="0"/>
              <a:t>Admin Module</a:t>
            </a:r>
            <a:r>
              <a:rPr lang="en-US" sz="2800" dirty="0"/>
              <a:t> for creating and managing events</a:t>
            </a:r>
          </a:p>
          <a:p>
            <a:pPr marL="457200" indent="-457200">
              <a:buFont typeface="Arial" panose="020B0604020202020204" pitchFamily="34" charset="0"/>
              <a:buChar char="•"/>
            </a:pPr>
            <a:r>
              <a:rPr lang="en-US" sz="2800" b="1" dirty="0"/>
              <a:t>User Module</a:t>
            </a:r>
            <a:r>
              <a:rPr lang="en-US" sz="2800" dirty="0"/>
              <a:t> for browsing and booking tickets</a:t>
            </a:r>
          </a:p>
          <a:p>
            <a:pPr marL="457200" indent="-457200">
              <a:buFont typeface="Arial" panose="020B0604020202020204" pitchFamily="34" charset="0"/>
              <a:buChar char="•"/>
            </a:pPr>
            <a:r>
              <a:rPr lang="en-US" sz="2800" b="1" dirty="0"/>
              <a:t>Authentication System</a:t>
            </a:r>
            <a:r>
              <a:rPr lang="en-US" sz="2800" dirty="0"/>
              <a:t> for secure login</a:t>
            </a:r>
          </a:p>
          <a:p>
            <a:pPr marL="457200" indent="-457200">
              <a:buFont typeface="Arial" panose="020B0604020202020204" pitchFamily="34" charset="0"/>
              <a:buChar char="•"/>
            </a:pPr>
            <a:r>
              <a:rPr lang="en-US" sz="2800" b="1" dirty="0"/>
              <a:t>Ticket Booking Module</a:t>
            </a:r>
            <a:r>
              <a:rPr lang="en-US" sz="2800" dirty="0"/>
              <a:t> for selecting and reserving seats</a:t>
            </a:r>
          </a:p>
          <a:p>
            <a:pPr marL="457200" indent="-457200">
              <a:buFont typeface="Arial" panose="020B0604020202020204" pitchFamily="34" charset="0"/>
              <a:buChar char="•"/>
            </a:pPr>
            <a:r>
              <a:rPr lang="en-US" sz="2800" b="1" dirty="0"/>
              <a:t>Database Integration</a:t>
            </a:r>
            <a:r>
              <a:rPr lang="en-US" sz="2800" dirty="0"/>
              <a:t> to store event and booking details</a:t>
            </a:r>
          </a:p>
          <a:p>
            <a:pPr marL="457200" indent="-457200">
              <a:buFont typeface="Arial" panose="020B0604020202020204" pitchFamily="34" charset="0"/>
              <a:buChar char="•"/>
            </a:pPr>
            <a:r>
              <a:rPr lang="en-US" sz="2800" b="1" dirty="0"/>
              <a:t>Result &amp; Analytics Module</a:t>
            </a:r>
            <a:r>
              <a:rPr lang="en-US" sz="2800" dirty="0"/>
              <a:t> to generate booking reports</a:t>
            </a:r>
          </a:p>
          <a:p>
            <a:r>
              <a:rPr lang="en-US" sz="2800" dirty="0"/>
              <a:t>The platform ensures seamless coordination between frontend interfaces and backend logic to provide a smooth user experience.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188296" y="1564574"/>
            <a:ext cx="9829800" cy="9140964"/>
          </a:xfrm>
          <a:prstGeom prst="rect">
            <a:avLst/>
          </a:prstGeom>
          <a:noFill/>
        </p:spPr>
        <p:txBody>
          <a:bodyPr wrap="square" rtlCol="0">
            <a:spAutoFit/>
          </a:bodyPr>
          <a:lstStyle/>
          <a:p>
            <a:r>
              <a:rPr lang="en-US" sz="2800" b="1" dirty="0"/>
              <a:t>Input:</a:t>
            </a:r>
            <a:endParaRPr lang="en-US" sz="2800" dirty="0"/>
          </a:p>
          <a:p>
            <a:pPr marL="457200" indent="-457200">
              <a:buFont typeface="Arial" panose="020B0604020202020204" pitchFamily="34" charset="0"/>
              <a:buChar char="•"/>
            </a:pPr>
            <a:r>
              <a:rPr lang="en-US" sz="2800" dirty="0"/>
              <a:t>Admin enters event details (title, date, venue, ticket price, seat limit)</a:t>
            </a:r>
          </a:p>
          <a:p>
            <a:pPr marL="457200" indent="-457200">
              <a:buFont typeface="Arial" panose="020B0604020202020204" pitchFamily="34" charset="0"/>
              <a:buChar char="•"/>
            </a:pPr>
            <a:r>
              <a:rPr lang="en-US" sz="2800" dirty="0"/>
              <a:t>Users register, log in, and book tickets</a:t>
            </a:r>
          </a:p>
          <a:p>
            <a:r>
              <a:rPr lang="en-US" sz="2800" b="1" dirty="0"/>
              <a:t>Processing:</a:t>
            </a:r>
            <a:endParaRPr lang="en-US" sz="2800" dirty="0"/>
          </a:p>
          <a:p>
            <a:pPr marL="457200" indent="-457200">
              <a:buFont typeface="Arial" panose="020B0604020202020204" pitchFamily="34" charset="0"/>
              <a:buChar char="•"/>
            </a:pPr>
            <a:r>
              <a:rPr lang="en-US" sz="2800" dirty="0"/>
              <a:t>Backend verifies user authentication</a:t>
            </a:r>
          </a:p>
          <a:p>
            <a:pPr marL="457200" indent="-457200">
              <a:buFont typeface="Arial" panose="020B0604020202020204" pitchFamily="34" charset="0"/>
              <a:buChar char="•"/>
            </a:pPr>
            <a:r>
              <a:rPr lang="en-US" sz="2800" dirty="0"/>
              <a:t>Checks ticket availability</a:t>
            </a:r>
          </a:p>
          <a:p>
            <a:pPr marL="457200" indent="-457200">
              <a:buFont typeface="Arial" panose="020B0604020202020204" pitchFamily="34" charset="0"/>
              <a:buChar char="•"/>
            </a:pPr>
            <a:r>
              <a:rPr lang="en-US" sz="2800" dirty="0"/>
              <a:t>Processes booking request</a:t>
            </a:r>
          </a:p>
          <a:p>
            <a:pPr marL="457200" indent="-457200">
              <a:buFont typeface="Arial" panose="020B0604020202020204" pitchFamily="34" charset="0"/>
              <a:buChar char="•"/>
            </a:pPr>
            <a:r>
              <a:rPr lang="en-US" sz="2800" dirty="0"/>
              <a:t>Updates seat count in real-time</a:t>
            </a:r>
          </a:p>
          <a:p>
            <a:pPr marL="457200" indent="-457200">
              <a:buFont typeface="Arial" panose="020B0604020202020204" pitchFamily="34" charset="0"/>
              <a:buChar char="•"/>
            </a:pPr>
            <a:r>
              <a:rPr lang="en-US" sz="2800" dirty="0"/>
              <a:t>Generates confirmation</a:t>
            </a:r>
          </a:p>
          <a:p>
            <a:r>
              <a:rPr lang="en-US" sz="2800" b="1" dirty="0"/>
              <a:t>Database:</a:t>
            </a:r>
            <a:endParaRPr lang="en-US" sz="2800" dirty="0"/>
          </a:p>
          <a:p>
            <a:pPr marL="457200" indent="-457200">
              <a:buFont typeface="Arial" panose="020B0604020202020204" pitchFamily="34" charset="0"/>
              <a:buChar char="•"/>
            </a:pPr>
            <a:r>
              <a:rPr lang="en-US" sz="2800" dirty="0"/>
              <a:t>Stores user data</a:t>
            </a:r>
          </a:p>
          <a:p>
            <a:pPr marL="457200" indent="-457200">
              <a:buFont typeface="Arial" panose="020B0604020202020204" pitchFamily="34" charset="0"/>
              <a:buChar char="•"/>
            </a:pPr>
            <a:r>
              <a:rPr lang="en-US" sz="2800" dirty="0"/>
              <a:t>Stores event details</a:t>
            </a:r>
          </a:p>
          <a:p>
            <a:pPr marL="457200" indent="-457200">
              <a:buFont typeface="Arial" panose="020B0604020202020204" pitchFamily="34" charset="0"/>
              <a:buChar char="•"/>
            </a:pPr>
            <a:r>
              <a:rPr lang="en-US" sz="2800" dirty="0"/>
              <a:t>Stores ticket booking records</a:t>
            </a:r>
          </a:p>
          <a:p>
            <a:pPr marL="457200" indent="-457200">
              <a:buFont typeface="Arial" panose="020B0604020202020204" pitchFamily="34" charset="0"/>
              <a:buChar char="•"/>
            </a:pPr>
            <a:r>
              <a:rPr lang="en-US" sz="2800" dirty="0"/>
              <a:t>Maintains transaction history</a:t>
            </a:r>
          </a:p>
          <a:p>
            <a:r>
              <a:rPr lang="en-US" sz="2800" b="1" dirty="0"/>
              <a:t>Output:</a:t>
            </a:r>
            <a:endParaRPr lang="en-US" sz="2800" dirty="0"/>
          </a:p>
          <a:p>
            <a:pPr marL="457200" indent="-457200">
              <a:buFont typeface="Arial" panose="020B0604020202020204" pitchFamily="34" charset="0"/>
              <a:buChar char="•"/>
            </a:pPr>
            <a:r>
              <a:rPr lang="en-US" sz="2800" dirty="0"/>
              <a:t>Booking confirmation page</a:t>
            </a:r>
          </a:p>
          <a:p>
            <a:pPr marL="457200" indent="-457200">
              <a:buFont typeface="Arial" panose="020B0604020202020204" pitchFamily="34" charset="0"/>
              <a:buChar char="•"/>
            </a:pPr>
            <a:r>
              <a:rPr lang="en-US" sz="2800" dirty="0"/>
              <a:t>Ticket details display</a:t>
            </a:r>
          </a:p>
          <a:p>
            <a:pPr marL="457200" indent="-457200">
              <a:buFont typeface="Arial" panose="020B0604020202020204" pitchFamily="34" charset="0"/>
              <a:buChar char="•"/>
            </a:pPr>
            <a:r>
              <a:rPr lang="en-US" sz="2800" dirty="0"/>
              <a:t>Event summary report</a:t>
            </a:r>
          </a:p>
          <a:p>
            <a:pPr marL="457200" indent="-457200">
              <a:buFont typeface="Arial" panose="020B0604020202020204" pitchFamily="34" charset="0"/>
              <a:buChar char="•"/>
            </a:pPr>
            <a:r>
              <a:rPr lang="en-US" sz="2800" dirty="0"/>
              <a:t>Admin dashboard analytics</a:t>
            </a:r>
          </a:p>
          <a:p>
            <a:endParaRPr lang="en-IN" sz="2800" dirty="0"/>
          </a:p>
        </p:txBody>
      </p:sp>
      <p:pic>
        <p:nvPicPr>
          <p:cNvPr id="4" name="Picture 3">
            <a:extLst>
              <a:ext uri="{FF2B5EF4-FFF2-40B4-BE49-F238E27FC236}">
                <a16:creationId xmlns:a16="http://schemas.microsoft.com/office/drawing/2014/main" id="{B5014992-336D-F5F8-8216-4EFBA4AA871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42129" y="3270085"/>
            <a:ext cx="9782423" cy="65216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6F368B74-28DA-975E-2B59-D1EB3AA566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33600" y="1104900"/>
            <a:ext cx="13944600" cy="8686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1821094" y="1562100"/>
            <a:ext cx="15082325" cy="12157174"/>
          </a:xfrm>
          <a:prstGeom prst="rect">
            <a:avLst/>
          </a:prstGeom>
          <a:noFill/>
        </p:spPr>
        <p:txBody>
          <a:bodyPr wrap="square" rtlCol="0">
            <a:spAutoFit/>
          </a:bodyPr>
          <a:lstStyle/>
          <a:p>
            <a:r>
              <a:rPr lang="en-US" sz="2800" b="1" dirty="0"/>
              <a:t>Frontend:</a:t>
            </a:r>
            <a:endParaRPr lang="en-US" sz="2800" dirty="0"/>
          </a:p>
          <a:p>
            <a:pPr marL="457200" indent="-457200">
              <a:buFont typeface="Arial" panose="020B0604020202020204" pitchFamily="34" charset="0"/>
              <a:buChar char="•"/>
            </a:pPr>
            <a:r>
              <a:rPr lang="en-US" sz="2800" dirty="0"/>
              <a:t>HTML</a:t>
            </a:r>
          </a:p>
          <a:p>
            <a:pPr marL="457200" indent="-457200">
              <a:buFont typeface="Arial" panose="020B0604020202020204" pitchFamily="34" charset="0"/>
              <a:buChar char="•"/>
            </a:pPr>
            <a:r>
              <a:rPr lang="en-US" sz="2800" dirty="0"/>
              <a:t>CSS</a:t>
            </a:r>
          </a:p>
          <a:p>
            <a:pPr marL="457200" indent="-457200">
              <a:buFont typeface="Arial" panose="020B0604020202020204" pitchFamily="34" charset="0"/>
              <a:buChar char="•"/>
            </a:pPr>
            <a:r>
              <a:rPr lang="en-US" sz="2800" dirty="0"/>
              <a:t>JavaScript</a:t>
            </a:r>
          </a:p>
          <a:p>
            <a:r>
              <a:rPr lang="en-US" sz="2800" b="1" dirty="0"/>
              <a:t>Backend:</a:t>
            </a:r>
            <a:endParaRPr lang="en-US" sz="2800" dirty="0"/>
          </a:p>
          <a:p>
            <a:pPr marL="457200" indent="-457200">
              <a:buFont typeface="Arial" panose="020B0604020202020204" pitchFamily="34" charset="0"/>
              <a:buChar char="•"/>
            </a:pPr>
            <a:r>
              <a:rPr lang="en-US" sz="2800" dirty="0"/>
              <a:t>Java (Spring Boot) / Python (Flask)</a:t>
            </a:r>
          </a:p>
          <a:p>
            <a:r>
              <a:rPr lang="en-US" sz="2800" b="1" dirty="0"/>
              <a:t>Database:</a:t>
            </a:r>
            <a:endParaRPr lang="en-US" sz="2800" dirty="0"/>
          </a:p>
          <a:p>
            <a:pPr marL="457200" indent="-457200">
              <a:buFont typeface="Arial" panose="020B0604020202020204" pitchFamily="34" charset="0"/>
              <a:buChar char="•"/>
            </a:pPr>
            <a:r>
              <a:rPr lang="en-US" sz="2800" dirty="0"/>
              <a:t>MySQL</a:t>
            </a:r>
          </a:p>
          <a:p>
            <a:r>
              <a:rPr lang="en-US" sz="2800" b="1" dirty="0"/>
              <a:t>Tools:</a:t>
            </a:r>
            <a:endParaRPr lang="en-US" sz="2800" dirty="0"/>
          </a:p>
          <a:p>
            <a:pPr marL="457200" indent="-457200">
              <a:buFont typeface="Arial" panose="020B0604020202020204" pitchFamily="34" charset="0"/>
              <a:buChar char="•"/>
            </a:pPr>
            <a:r>
              <a:rPr lang="en-US" sz="2800" dirty="0"/>
              <a:t>Visual Studio Code</a:t>
            </a:r>
          </a:p>
          <a:p>
            <a:pPr marL="457200" indent="-457200">
              <a:buFont typeface="Arial" panose="020B0604020202020204" pitchFamily="34" charset="0"/>
              <a:buChar char="•"/>
            </a:pPr>
            <a:r>
              <a:rPr lang="en-US" sz="2800" dirty="0"/>
              <a:t>XAMPP / MySQL Workbench</a:t>
            </a:r>
          </a:p>
          <a:p>
            <a:pPr marL="457200" indent="-457200">
              <a:buFont typeface="Arial" panose="020B0604020202020204" pitchFamily="34" charset="0"/>
              <a:buChar char="•"/>
            </a:pPr>
            <a:r>
              <a:rPr lang="en-US" sz="2800" dirty="0"/>
              <a:t>Web Browser</a:t>
            </a:r>
          </a:p>
          <a:p>
            <a:r>
              <a:rPr lang="en-US" sz="2800" b="1" dirty="0"/>
              <a:t>Hardware / Software Requirements:</a:t>
            </a:r>
            <a:endParaRPr lang="en-US" sz="2800" dirty="0"/>
          </a:p>
          <a:p>
            <a:pPr marL="457200" indent="-457200">
              <a:buFont typeface="Arial" panose="020B0604020202020204" pitchFamily="34" charset="0"/>
              <a:buChar char="•"/>
            </a:pPr>
            <a:r>
              <a:rPr lang="en-US" sz="2800" dirty="0"/>
              <a:t>Minimum 4GB RAM</a:t>
            </a:r>
          </a:p>
          <a:p>
            <a:pPr marL="457200" indent="-457200">
              <a:buFont typeface="Arial" panose="020B0604020202020204" pitchFamily="34" charset="0"/>
              <a:buChar char="•"/>
            </a:pPr>
            <a:r>
              <a:rPr lang="en-US" sz="2800" dirty="0"/>
              <a:t>JDK / Python installed</a:t>
            </a:r>
          </a:p>
          <a:p>
            <a:pPr marL="457200" indent="-457200">
              <a:buFont typeface="Arial" panose="020B0604020202020204" pitchFamily="34" charset="0"/>
              <a:buChar char="•"/>
            </a:pPr>
            <a:r>
              <a:rPr lang="en-US" sz="2800" dirty="0"/>
              <a:t>MySQL Server</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176975" y="1456417"/>
            <a:ext cx="15082325" cy="4832092"/>
          </a:xfrm>
          <a:prstGeom prst="rect">
            <a:avLst/>
          </a:prstGeom>
          <a:noFill/>
        </p:spPr>
        <p:txBody>
          <a:bodyPr wrap="square" rtlCol="0">
            <a:spAutoFit/>
          </a:bodyPr>
          <a:lstStyle/>
          <a:p>
            <a:r>
              <a:rPr lang="en-US" sz="2800" b="1" dirty="0"/>
              <a:t>Module 1: User Authentication Module</a:t>
            </a:r>
          </a:p>
          <a:p>
            <a:r>
              <a:rPr lang="en-US" sz="2800" dirty="0"/>
              <a:t>Handles login and registration functionality. Ensures only authorized users can access the system.</a:t>
            </a:r>
          </a:p>
          <a:p>
            <a:r>
              <a:rPr lang="en-US" sz="2800" b="1" dirty="0"/>
              <a:t>Module 2: Event Management Module</a:t>
            </a:r>
          </a:p>
          <a:p>
            <a:r>
              <a:rPr lang="en-US" sz="2800" dirty="0"/>
              <a:t>Allows administrators to add, update, delete, and manage events.</a:t>
            </a:r>
          </a:p>
          <a:p>
            <a:r>
              <a:rPr lang="en-US" sz="2800" b="1" dirty="0"/>
              <a:t>Module 3: Ticket Booking Module</a:t>
            </a:r>
          </a:p>
          <a:p>
            <a:r>
              <a:rPr lang="en-US" sz="2800" dirty="0"/>
              <a:t>Enables users to select events, check availability, and book tickets.</a:t>
            </a:r>
          </a:p>
          <a:p>
            <a:r>
              <a:rPr lang="en-US" sz="2800" b="1" dirty="0"/>
              <a:t>Module 4: Payment &amp; Confirmation Module</a:t>
            </a:r>
          </a:p>
          <a:p>
            <a:r>
              <a:rPr lang="en-US" sz="2800" dirty="0"/>
              <a:t>Handles payment processing and generates booking confirmation.</a:t>
            </a:r>
          </a:p>
          <a:p>
            <a:r>
              <a:rPr lang="en-US" sz="2800" b="1" dirty="0"/>
              <a:t>Module 5: Reporting &amp; Analytics Module</a:t>
            </a:r>
          </a:p>
          <a:p>
            <a:r>
              <a:rPr lang="en-US" sz="2800" dirty="0"/>
              <a:t>Generates event reports, ticket sales summaries, and booking statistics.</a:t>
            </a:r>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176975" y="1864910"/>
            <a:ext cx="15082325" cy="4893647"/>
          </a:xfrm>
          <a:prstGeom prst="rect">
            <a:avLst/>
          </a:prstGeom>
          <a:noFill/>
        </p:spPr>
        <p:txBody>
          <a:bodyPr wrap="square" rtlCol="0">
            <a:spAutoFit/>
          </a:bodyPr>
          <a:lstStyle/>
          <a:p>
            <a:pPr marL="457200" indent="-457200">
              <a:buFont typeface="Arial" panose="020B0604020202020204" pitchFamily="34" charset="0"/>
              <a:buChar char="•"/>
            </a:pPr>
            <a:r>
              <a:rPr lang="en-US" sz="3200" b="1" dirty="0"/>
              <a:t>Login page :</a:t>
            </a:r>
          </a:p>
          <a:p>
            <a:r>
              <a:rPr lang="en-US" sz="2800" dirty="0"/>
              <a:t>       The Login Page serves as the entry point to the </a:t>
            </a:r>
            <a:r>
              <a:rPr lang="en-US" sz="2800" b="1" dirty="0"/>
              <a:t>End-to-End Event Lifecycle &amp; Ticketing</a:t>
            </a:r>
          </a:p>
          <a:p>
            <a:r>
              <a:rPr lang="en-US" sz="2800" b="1" dirty="0"/>
              <a:t>        Platform</a:t>
            </a:r>
            <a:r>
              <a:rPr lang="en-US" sz="2800" dirty="0"/>
              <a:t>. It ensures secure access to the system for both administrators and users.</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6" name="Picture 5">
            <a:extLst>
              <a:ext uri="{FF2B5EF4-FFF2-40B4-BE49-F238E27FC236}">
                <a16:creationId xmlns:a16="http://schemas.microsoft.com/office/drawing/2014/main" id="{92AC8E37-4739-7AFB-47C0-F3B9329502C6}"/>
              </a:ext>
            </a:extLst>
          </p:cNvPr>
          <p:cNvPicPr>
            <a:picLocks noChangeAspect="1"/>
          </p:cNvPicPr>
          <p:nvPr/>
        </p:nvPicPr>
        <p:blipFill>
          <a:blip r:embed="rId4"/>
          <a:stretch>
            <a:fillRect/>
          </a:stretch>
        </p:blipFill>
        <p:spPr>
          <a:xfrm>
            <a:off x="3009586" y="3587644"/>
            <a:ext cx="12192627" cy="6401129"/>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176975" y="1695376"/>
            <a:ext cx="15082325" cy="6617196"/>
          </a:xfrm>
          <a:prstGeom prst="rect">
            <a:avLst/>
          </a:prstGeom>
          <a:noFill/>
        </p:spPr>
        <p:txBody>
          <a:bodyPr wrap="square" rtlCol="0">
            <a:spAutoFit/>
          </a:bodyPr>
          <a:lstStyle/>
          <a:p>
            <a:pPr marL="457200" indent="-457200">
              <a:buFont typeface="Arial" panose="020B0604020202020204" pitchFamily="34" charset="0"/>
              <a:buChar char="•"/>
            </a:pPr>
            <a:r>
              <a:rPr lang="en-US" sz="2800" b="1" dirty="0"/>
              <a:t>    </a:t>
            </a:r>
            <a:r>
              <a:rPr lang="en-US" sz="3200" b="1" dirty="0"/>
              <a:t>Dashboard Page :</a:t>
            </a:r>
          </a:p>
          <a:p>
            <a:r>
              <a:rPr lang="en-US" sz="2800" dirty="0"/>
              <a:t>          The Dashboard Page is the main interface displayed after successful login. It provides users with         an overview of available events and quick access to booking features.</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r>
              <a:rPr lang="en-IN" sz="2800" dirty="0"/>
              <a:t> </a:t>
            </a:r>
          </a:p>
        </p:txBody>
      </p:sp>
      <p:pic>
        <p:nvPicPr>
          <p:cNvPr id="4" name="Picture 3">
            <a:extLst>
              <a:ext uri="{FF2B5EF4-FFF2-40B4-BE49-F238E27FC236}">
                <a16:creationId xmlns:a16="http://schemas.microsoft.com/office/drawing/2014/main" id="{6F207E26-C385-4E35-A135-3B758E165C89}"/>
              </a:ext>
            </a:extLst>
          </p:cNvPr>
          <p:cNvPicPr>
            <a:picLocks noChangeAspect="1"/>
          </p:cNvPicPr>
          <p:nvPr/>
        </p:nvPicPr>
        <p:blipFill>
          <a:blip r:embed="rId4"/>
          <a:stretch>
            <a:fillRect/>
          </a:stretch>
        </p:blipFill>
        <p:spPr>
          <a:xfrm>
            <a:off x="2665734" y="3476590"/>
            <a:ext cx="12192627" cy="6401129"/>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1384995"/>
          </a:xfrm>
          <a:prstGeom prst="rect">
            <a:avLst/>
          </a:prstGeom>
          <a:noFill/>
        </p:spPr>
        <p:txBody>
          <a:bodyPr wrap="square" rtlCol="0">
            <a:spAutoFit/>
          </a:bodyPr>
          <a:lstStyle/>
          <a:p>
            <a:pPr marL="457200" indent="-457200">
              <a:buFont typeface="Arial" panose="020B0604020202020204" pitchFamily="34" charset="0"/>
              <a:buChar char="•"/>
            </a:pPr>
            <a:r>
              <a:rPr lang="en-US" sz="2800" b="1" dirty="0"/>
              <a:t>               Cart Page :</a:t>
            </a:r>
          </a:p>
          <a:p>
            <a:r>
              <a:rPr lang="en-US" sz="2800" dirty="0"/>
              <a:t>                        The Cart Page allows users to review selected tickets before proceeding to payment.</a:t>
            </a:r>
          </a:p>
          <a:p>
            <a:r>
              <a:rPr lang="en-US" sz="2800" b="1" dirty="0"/>
              <a:t>        </a:t>
            </a:r>
          </a:p>
        </p:txBody>
      </p:sp>
      <p:pic>
        <p:nvPicPr>
          <p:cNvPr id="4" name="Picture 3">
            <a:extLst>
              <a:ext uri="{FF2B5EF4-FFF2-40B4-BE49-F238E27FC236}">
                <a16:creationId xmlns:a16="http://schemas.microsoft.com/office/drawing/2014/main" id="{7BA805AE-EE14-5E53-3EEA-8EDAF8068E2A}"/>
              </a:ext>
            </a:extLst>
          </p:cNvPr>
          <p:cNvPicPr>
            <a:picLocks noChangeAspect="1"/>
          </p:cNvPicPr>
          <p:nvPr/>
        </p:nvPicPr>
        <p:blipFill>
          <a:blip r:embed="rId4"/>
          <a:stretch>
            <a:fillRect/>
          </a:stretch>
        </p:blipFill>
        <p:spPr>
          <a:xfrm>
            <a:off x="3654648" y="3383989"/>
            <a:ext cx="12192627" cy="6401129"/>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2062103"/>
          </a:xfrm>
          <a:prstGeom prst="rect">
            <a:avLst/>
          </a:prstGeom>
          <a:noFill/>
        </p:spPr>
        <p:txBody>
          <a:bodyPr wrap="square" rtlCol="0">
            <a:spAutoFit/>
          </a:bodyPr>
          <a:lstStyle/>
          <a:p>
            <a:pPr marL="457200" indent="-457200">
              <a:buFont typeface="Arial" panose="020B0604020202020204" pitchFamily="34" charset="0"/>
              <a:buChar char="•"/>
            </a:pPr>
            <a:r>
              <a:rPr lang="en-US" sz="3200" b="1" dirty="0"/>
              <a:t>Checkout Page :</a:t>
            </a:r>
          </a:p>
          <a:p>
            <a:r>
              <a:rPr lang="en-US" sz="3200" dirty="0"/>
              <a:t>                     The Checkout Page allows users to securely enter payment details and                  complete their ticket booking.</a:t>
            </a:r>
          </a:p>
          <a:p>
            <a:pPr marL="457200" indent="-457200">
              <a:buFont typeface="Arial" panose="020B0604020202020204" pitchFamily="34" charset="0"/>
              <a:buChar char="•"/>
            </a:pPr>
            <a:endParaRPr lang="en-US" sz="3200" b="1" dirty="0"/>
          </a:p>
        </p:txBody>
      </p:sp>
      <p:pic>
        <p:nvPicPr>
          <p:cNvPr id="4" name="Picture 3">
            <a:extLst>
              <a:ext uri="{FF2B5EF4-FFF2-40B4-BE49-F238E27FC236}">
                <a16:creationId xmlns:a16="http://schemas.microsoft.com/office/drawing/2014/main" id="{DCFF44B3-6FD3-A13B-676C-1C312499E704}"/>
              </a:ext>
            </a:extLst>
          </p:cNvPr>
          <p:cNvPicPr>
            <a:picLocks noChangeAspect="1"/>
          </p:cNvPicPr>
          <p:nvPr/>
        </p:nvPicPr>
        <p:blipFill>
          <a:blip r:embed="rId4"/>
          <a:stretch>
            <a:fillRect/>
          </a:stretch>
        </p:blipFill>
        <p:spPr>
          <a:xfrm>
            <a:off x="2395171" y="3453329"/>
            <a:ext cx="12192627" cy="6401129"/>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2665734" y="2003377"/>
            <a:ext cx="14500522" cy="4832092"/>
          </a:xfrm>
          <a:prstGeom prst="rect">
            <a:avLst/>
          </a:prstGeom>
          <a:noFill/>
        </p:spPr>
        <p:txBody>
          <a:bodyPr wrap="square" rtlCol="0">
            <a:spAutoFit/>
          </a:bodyPr>
          <a:lstStyle/>
          <a:p>
            <a:r>
              <a:rPr lang="en-US" sz="2800" b="1" dirty="0"/>
              <a:t>Advantages</a:t>
            </a:r>
          </a:p>
          <a:p>
            <a:pPr marL="457200" indent="-457200">
              <a:buFont typeface="Arial" panose="020B0604020202020204" pitchFamily="34" charset="0"/>
              <a:buChar char="•"/>
            </a:pPr>
            <a:r>
              <a:rPr lang="en-US" sz="2800" dirty="0"/>
              <a:t>Real-time ticket availability</a:t>
            </a:r>
          </a:p>
          <a:p>
            <a:pPr marL="457200" indent="-457200">
              <a:buFont typeface="Arial" panose="020B0604020202020204" pitchFamily="34" charset="0"/>
              <a:buChar char="•"/>
            </a:pPr>
            <a:r>
              <a:rPr lang="en-US" sz="2800" dirty="0"/>
              <a:t>Secure user authentication</a:t>
            </a:r>
          </a:p>
          <a:p>
            <a:pPr marL="457200" indent="-457200">
              <a:buFont typeface="Arial" panose="020B0604020202020204" pitchFamily="34" charset="0"/>
              <a:buChar char="•"/>
            </a:pPr>
            <a:r>
              <a:rPr lang="en-US" sz="2800" dirty="0"/>
              <a:t>Automated booking confirmation</a:t>
            </a:r>
          </a:p>
          <a:p>
            <a:pPr marL="457200" indent="-457200">
              <a:buFont typeface="Arial" panose="020B0604020202020204" pitchFamily="34" charset="0"/>
              <a:buChar char="•"/>
            </a:pPr>
            <a:r>
              <a:rPr lang="en-US" sz="2800" dirty="0"/>
              <a:t>Centralized event management</a:t>
            </a:r>
          </a:p>
          <a:p>
            <a:pPr marL="457200" indent="-457200">
              <a:buFont typeface="Arial" panose="020B0604020202020204" pitchFamily="34" charset="0"/>
              <a:buChar char="•"/>
            </a:pPr>
            <a:r>
              <a:rPr lang="en-US" sz="2800" dirty="0"/>
              <a:t>Scalable and efficient</a:t>
            </a:r>
          </a:p>
          <a:p>
            <a:r>
              <a:rPr lang="en-US" sz="2800" b="1" dirty="0"/>
              <a:t>Limitations</a:t>
            </a:r>
          </a:p>
          <a:p>
            <a:pPr marL="457200" indent="-457200">
              <a:buFont typeface="Arial" panose="020B0604020202020204" pitchFamily="34" charset="0"/>
              <a:buChar char="•"/>
            </a:pPr>
            <a:r>
              <a:rPr lang="en-US" sz="2800" dirty="0"/>
              <a:t>Requires internet connectivity</a:t>
            </a:r>
          </a:p>
          <a:p>
            <a:pPr marL="457200" indent="-457200">
              <a:buFont typeface="Arial" panose="020B0604020202020204" pitchFamily="34" charset="0"/>
              <a:buChar char="•"/>
            </a:pPr>
            <a:r>
              <a:rPr lang="en-US" sz="2800" dirty="0"/>
              <a:t>Payment gateway integration needed for real-time transactions</a:t>
            </a:r>
          </a:p>
          <a:p>
            <a:pPr marL="457200" indent="-457200">
              <a:buFont typeface="Arial" panose="020B0604020202020204" pitchFamily="34" charset="0"/>
              <a:buChar char="•"/>
            </a:pPr>
            <a:r>
              <a:rPr lang="en-US" sz="2800" dirty="0"/>
              <a:t>Security depends on proper backend implementation</a:t>
            </a:r>
          </a:p>
          <a:p>
            <a:endParaRPr lang="en-IN" sz="2800" dirty="0"/>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413</TotalTime>
  <Words>1017</Words>
  <Application>Microsoft Office PowerPoint</Application>
  <PresentationFormat>Custom</PresentationFormat>
  <Paragraphs>298</Paragraphs>
  <Slides>15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Times New Roman</vt:lpstr>
      <vt:lpstr>Bookman Old Style</vt:lpstr>
      <vt:lpstr>Gotham Bold Italics</vt:lpstr>
      <vt:lpstr>Calibri</vt:lpstr>
      <vt:lpstr>Gotham</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HP</dc:creator>
  <cp:lastModifiedBy>Bunny Preetham</cp:lastModifiedBy>
  <cp:revision>26</cp:revision>
  <dcterms:created xsi:type="dcterms:W3CDTF">2006-08-16T00:00:00Z</dcterms:created>
  <dcterms:modified xsi:type="dcterms:W3CDTF">2026-03-03T18:27:47Z</dcterms:modified>
  <dc:identifier>DAHCaYqJ9OU</dc:identifier>
</cp:coreProperties>
</file>